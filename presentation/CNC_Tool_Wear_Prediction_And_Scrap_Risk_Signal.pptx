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cnc_hero.jpg"/>
          <p:cNvPicPr>
            <a:picLocks noChangeAspect="1"/>
          </p:cNvPicPr>
          <p:nvPr/>
        </p:nvPicPr>
        <p:blipFill>
          <a:blip r:embed="rId2"/>
          <a:srcRect l="27153" r="27153"/>
          <a:stretch>
            <a:fillRect/>
          </a:stretch>
        </p:blipFill>
        <p:spPr>
          <a:xfrm>
            <a:off x="6446520" y="0"/>
            <a:ext cx="5745175" cy="6858000"/>
          </a:xfrm>
          <a:prstGeom prst="rect">
            <a:avLst/>
          </a:prstGeom>
        </p:spPr>
      </p:pic>
      <p:sp>
        <p:nvSpPr>
          <p:cNvPr id="3" name="Rectangle 2"/>
          <p:cNvSpPr/>
          <p:nvPr/>
        </p:nvSpPr>
        <p:spPr>
          <a:xfrm>
            <a:off x="6446520" y="0"/>
            <a:ext cx="5745175" cy="6858000"/>
          </a:xfrm>
          <a:prstGeom prst="rect">
            <a:avLst/>
          </a:prstGeom>
          <a:solidFill>
            <a:srgbClr val="0F172A">
              <a:alpha val="3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77240"/>
            <a:ext cx="5577840" cy="365760"/>
          </a:xfrm>
          <a:prstGeom prst="rect">
            <a:avLst/>
          </a:prstGeom>
          <a:noFill/>
        </p:spPr>
        <p:txBody>
          <a:bodyPr wrap="square" lIns="0" rIns="0" tIns="0" bIns="0">
            <a:spAutoFit/>
          </a:bodyPr>
          <a:lstStyle/>
          <a:p>
            <a:pPr algn="l">
              <a:spcBef>
                <a:spcPts val="0"/>
              </a:spcBef>
              <a:spcAft>
                <a:spcPts val="500"/>
              </a:spcAft>
            </a:pPr>
            <a:r>
              <a:rPr sz="1100" b="1" i="0">
                <a:solidFill>
                  <a:srgbClr val="3B82F6"/>
                </a:solidFill>
                <a:latin typeface="Calibri"/>
              </a:rPr>
              <a:t>ACADEMIC PROJECT PRESENTATION  ·  2026–27</a:t>
            </a:r>
          </a:p>
        </p:txBody>
      </p:sp>
      <p:sp>
        <p:nvSpPr>
          <p:cNvPr id="5" name="TextBox 4"/>
          <p:cNvSpPr txBox="1"/>
          <p:nvPr/>
        </p:nvSpPr>
        <p:spPr>
          <a:xfrm>
            <a:off x="640080" y="1234440"/>
            <a:ext cx="5669280" cy="2011680"/>
          </a:xfrm>
          <a:prstGeom prst="rect">
            <a:avLst/>
          </a:prstGeom>
          <a:noFill/>
        </p:spPr>
        <p:txBody>
          <a:bodyPr wrap="square" lIns="0" rIns="0" tIns="0" bIns="0">
            <a:spAutoFit/>
          </a:bodyPr>
          <a:lstStyle/>
          <a:p>
            <a:pPr algn="l">
              <a:spcBef>
                <a:spcPts val="0"/>
              </a:spcBef>
              <a:spcAft>
                <a:spcPts val="0"/>
              </a:spcAft>
            </a:pPr>
            <a:r>
              <a:rPr sz="3400" b="1" i="0">
                <a:solidFill>
                  <a:srgbClr val="F1F5F9"/>
                </a:solidFill>
                <a:latin typeface="Calibri"/>
              </a:rPr>
              <a:t>CNC Tool Wear Prediction</a:t>
            </a:r>
          </a:p>
          <a:p>
            <a:pPr algn="l">
              <a:spcBef>
                <a:spcPts val="0"/>
              </a:spcBef>
              <a:spcAft>
                <a:spcPts val="800"/>
              </a:spcAft>
            </a:pPr>
            <a:r>
              <a:rPr sz="3400" b="1" i="0">
                <a:solidFill>
                  <a:srgbClr val="F1F5F9"/>
                </a:solidFill>
                <a:latin typeface="Calibri"/>
              </a:rPr>
              <a:t>And Scrap Risk Signal</a:t>
            </a:r>
          </a:p>
          <a:p>
            <a:pPr algn="l">
              <a:spcBef>
                <a:spcPts val="0"/>
              </a:spcBef>
              <a:spcAft>
                <a:spcPts val="0"/>
              </a:spcAft>
            </a:pPr>
            <a:r>
              <a:rPr sz="1300" b="0" i="0">
                <a:solidFill>
                  <a:srgbClr val="94A3B8"/>
                </a:solidFill>
                <a:latin typeface="Calibri"/>
              </a:rPr>
              <a:t>A physics + machine-learning hybrid decision-support system for Industry 4.0 predictive maintenance</a:t>
            </a:r>
          </a:p>
        </p:txBody>
      </p:sp>
      <p:sp>
        <p:nvSpPr>
          <p:cNvPr id="6" name="Rectangle 5"/>
          <p:cNvSpPr/>
          <p:nvPr/>
        </p:nvSpPr>
        <p:spPr>
          <a:xfrm>
            <a:off x="658368" y="3310128"/>
            <a:ext cx="2194560" cy="3302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640080" y="3657600"/>
          <a:ext cx="5120640" cy="1536192"/>
        </p:xfrm>
        <a:graphic>
          <a:graphicData uri="http://schemas.openxmlformats.org/drawingml/2006/table">
            <a:tbl>
              <a:tblPr>
                <a:tableStyleId>{5C22544A-7EE6-4342-B048-85BDC9FD1C3A}</a:tableStyleId>
              </a:tblPr>
              <a:tblGrid>
                <a:gridCol w="2834640"/>
                <a:gridCol w="2286000"/>
              </a:tblGrid>
              <a:tr h="384048">
                <a:tc>
                  <a:txBody>
                    <a:bodyPr wrap="square"/>
                    <a:lstStyle/>
                    <a:p>
                      <a:pPr algn="l"/>
                      <a:r>
                        <a:rPr sz="1050" b="1">
                          <a:solidFill>
                            <a:srgbClr val="F1F5F9"/>
                          </a:solidFill>
                          <a:latin typeface="Calibri"/>
                        </a:rPr>
                        <a:t>Team Member</a:t>
                      </a:r>
                    </a:p>
                  </a:txBody>
                  <a:tcPr marL="73152" marR="54864" marT="27432" marB="27432" anchor="ctr">
                    <a:solidFill>
                      <a:srgbClr val="1E293B"/>
                    </a:solidFill>
                  </a:tcPr>
                </a:tc>
                <a:tc>
                  <a:txBody>
                    <a:bodyPr wrap="square"/>
                    <a:lstStyle/>
                    <a:p>
                      <a:pPr algn="l"/>
                      <a:r>
                        <a:rPr sz="1050" b="1">
                          <a:solidFill>
                            <a:srgbClr val="F1F5F9"/>
                          </a:solidFill>
                          <a:latin typeface="Calibri"/>
                        </a:rPr>
                        <a:t>Roll Number</a:t>
                      </a:r>
                    </a:p>
                  </a:txBody>
                  <a:tcPr marL="73152" marR="54864" marT="27432" marB="27432" anchor="ctr">
                    <a:solidFill>
                      <a:srgbClr val="1E293B"/>
                    </a:solidFill>
                  </a:tcPr>
                </a:tc>
              </a:tr>
              <a:tr h="384048">
                <a:tc>
                  <a:txBody>
                    <a:bodyPr wrap="square"/>
                    <a:lstStyle/>
                    <a:p>
                      <a:pPr algn="l"/>
                      <a:r>
                        <a:rPr sz="1050" b="1">
                          <a:solidFill>
                            <a:srgbClr val="F1F5F9"/>
                          </a:solidFill>
                          <a:latin typeface="Calibri"/>
                        </a:rPr>
                        <a:t>Arvapalli Sai Adarsh</a:t>
                      </a:r>
                    </a:p>
                  </a:txBody>
                  <a:tcPr marL="73152" marR="54864" marT="27432" marB="27432" anchor="ctr">
                    <a:solidFill>
                      <a:srgbClr val="16202F"/>
                    </a:solidFill>
                  </a:tcPr>
                </a:tc>
                <a:tc>
                  <a:txBody>
                    <a:bodyPr wrap="square"/>
                    <a:lstStyle/>
                    <a:p>
                      <a:pPr algn="l"/>
                      <a:r>
                        <a:rPr sz="1050" b="0">
                          <a:solidFill>
                            <a:srgbClr val="F1F5F9"/>
                          </a:solidFill>
                          <a:latin typeface="Calibri"/>
                        </a:rPr>
                        <a:t>1602-24-736-039</a:t>
                      </a:r>
                    </a:p>
                  </a:txBody>
                  <a:tcPr marL="73152" marR="54864" marT="27432" marB="27432" anchor="ctr">
                    <a:solidFill>
                      <a:srgbClr val="16202F"/>
                    </a:solidFill>
                  </a:tcPr>
                </a:tc>
              </a:tr>
              <a:tr h="384048">
                <a:tc>
                  <a:txBody>
                    <a:bodyPr wrap="square"/>
                    <a:lstStyle/>
                    <a:p>
                      <a:pPr algn="l"/>
                      <a:r>
                        <a:rPr sz="1050" b="1">
                          <a:solidFill>
                            <a:srgbClr val="F1F5F9"/>
                          </a:solidFill>
                          <a:latin typeface="Calibri"/>
                        </a:rPr>
                        <a:t>A. Meghana</a:t>
                      </a:r>
                    </a:p>
                  </a:txBody>
                  <a:tcPr marL="73152" marR="54864" marT="27432" marB="27432" anchor="ctr">
                    <a:solidFill>
                      <a:srgbClr val="1E293B"/>
                    </a:solidFill>
                  </a:tcPr>
                </a:tc>
                <a:tc>
                  <a:txBody>
                    <a:bodyPr wrap="square"/>
                    <a:lstStyle/>
                    <a:p>
                      <a:pPr algn="l"/>
                      <a:r>
                        <a:rPr sz="1050" b="0">
                          <a:solidFill>
                            <a:srgbClr val="F1F5F9"/>
                          </a:solidFill>
                          <a:latin typeface="Calibri"/>
                        </a:rPr>
                        <a:t>1602-24-736-022</a:t>
                      </a:r>
                    </a:p>
                  </a:txBody>
                  <a:tcPr marL="73152" marR="54864" marT="27432" marB="27432" anchor="ctr">
                    <a:solidFill>
                      <a:srgbClr val="1E293B"/>
                    </a:solidFill>
                  </a:tcPr>
                </a:tc>
              </a:tr>
              <a:tr h="384048">
                <a:tc>
                  <a:txBody>
                    <a:bodyPr wrap="square"/>
                    <a:lstStyle/>
                    <a:p>
                      <a:pPr algn="l"/>
                      <a:r>
                        <a:rPr sz="1050" b="1">
                          <a:solidFill>
                            <a:srgbClr val="F1F5F9"/>
                          </a:solidFill>
                          <a:latin typeface="Calibri"/>
                        </a:rPr>
                        <a:t>M. Muzammil</a:t>
                      </a:r>
                    </a:p>
                  </a:txBody>
                  <a:tcPr marL="73152" marR="54864" marT="27432" marB="27432" anchor="ctr">
                    <a:solidFill>
                      <a:srgbClr val="16202F"/>
                    </a:solidFill>
                  </a:tcPr>
                </a:tc>
                <a:tc>
                  <a:txBody>
                    <a:bodyPr wrap="square"/>
                    <a:lstStyle/>
                    <a:p>
                      <a:pPr algn="l"/>
                      <a:r>
                        <a:rPr sz="1050" b="0">
                          <a:solidFill>
                            <a:srgbClr val="F1F5F9"/>
                          </a:solidFill>
                          <a:latin typeface="Calibri"/>
                        </a:rPr>
                        <a:t>1602-24-736-027</a:t>
                      </a:r>
                    </a:p>
                  </a:txBody>
                  <a:tcPr marL="73152" marR="54864" marT="27432" marB="27432" anchor="ctr">
                    <a:solidFill>
                      <a:srgbClr val="16202F"/>
                    </a:solidFill>
                  </a:tcPr>
                </a:tc>
              </a:tr>
            </a:tbl>
          </a:graphicData>
        </a:graphic>
      </p:graphicFrame>
      <p:sp>
        <p:nvSpPr>
          <p:cNvPr id="8" name="TextBox 7"/>
          <p:cNvSpPr txBox="1"/>
          <p:nvPr/>
        </p:nvSpPr>
        <p:spPr>
          <a:xfrm>
            <a:off x="640080" y="5623560"/>
            <a:ext cx="5486400" cy="822960"/>
          </a:xfrm>
          <a:prstGeom prst="rect">
            <a:avLst/>
          </a:prstGeom>
          <a:noFill/>
        </p:spPr>
        <p:txBody>
          <a:bodyPr wrap="square" lIns="0" rIns="0" tIns="0" bIns="0">
            <a:spAutoFit/>
          </a:bodyPr>
          <a:lstStyle/>
          <a:p>
            <a:pPr algn="l">
              <a:spcBef>
                <a:spcPts val="0"/>
              </a:spcBef>
              <a:spcAft>
                <a:spcPts val="200"/>
              </a:spcAft>
            </a:pPr>
            <a:r>
              <a:rPr sz="950" b="0" i="0">
                <a:solidFill>
                  <a:srgbClr val="94A3B8"/>
                </a:solidFill>
                <a:latin typeface="Calibri"/>
              </a:rPr>
              <a:t>Validated against:  Dong &amp; Li (ASME JCISE 2022)  ·  Fan (DAPIC 2026)  ·  Munaro, Attanasio &amp; Del Prete (JMMP 2023)</a:t>
            </a:r>
          </a:p>
          <a:p>
            <a:pPr algn="l">
              <a:spcBef>
                <a:spcPts val="0"/>
              </a:spcBef>
              <a:spcAft>
                <a:spcPts val="0"/>
              </a:spcAft>
            </a:pPr>
            <a:r>
              <a:rPr sz="950" b="0" i="0">
                <a:solidFill>
                  <a:srgbClr val="94A3B8"/>
                </a:solidFill>
                <a:latin typeface="Calibri"/>
              </a:rPr>
              <a:t>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02920" y="292608"/>
            <a:ext cx="10058400" cy="1051560"/>
          </a:xfrm>
          <a:prstGeom prst="rect">
            <a:avLst/>
          </a:prstGeom>
          <a:noFill/>
        </p:spPr>
        <p:txBody>
          <a:bodyPr wrap="square" lIns="0" rIns="0" tIns="0" bIns="0">
            <a:spAutoFit/>
          </a:bodyPr>
          <a:lstStyle/>
          <a:p>
            <a:pPr algn="l">
              <a:spcBef>
                <a:spcPts val="0"/>
              </a:spcBef>
              <a:spcAft>
                <a:spcPts val="300"/>
              </a:spcAft>
            </a:pPr>
            <a:r>
              <a:rPr sz="1000" b="1" i="0">
                <a:solidFill>
                  <a:srgbClr val="3B82F6"/>
                </a:solidFill>
                <a:latin typeface="Calibri"/>
              </a:rPr>
              <a:t>SECTION 1 — PROBLEM STATEMENT</a:t>
            </a:r>
          </a:p>
          <a:p>
            <a:pPr algn="l">
              <a:spcBef>
                <a:spcPts val="0"/>
              </a:spcBef>
              <a:spcAft>
                <a:spcPts val="0"/>
              </a:spcAft>
            </a:pPr>
            <a:r>
              <a:rPr sz="2600" b="1" i="0">
                <a:solidFill>
                  <a:srgbClr val="F1F5F9"/>
                </a:solidFill>
                <a:latin typeface="Calibri"/>
              </a:rPr>
              <a:t>Introduction &amp; Motivation</a:t>
            </a:r>
          </a:p>
        </p:txBody>
      </p:sp>
      <p:sp>
        <p:nvSpPr>
          <p:cNvPr id="3" name="Rectangle 2"/>
          <p:cNvSpPr/>
          <p:nvPr/>
        </p:nvSpPr>
        <p:spPr>
          <a:xfrm>
            <a:off x="521207" y="1170432"/>
            <a:ext cx="1920240" cy="2794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73952"/>
            <a:ext cx="8686800" cy="292608"/>
          </a:xfrm>
          <a:prstGeom prst="rect">
            <a:avLst/>
          </a:prstGeom>
          <a:noFill/>
        </p:spPr>
        <p:txBody>
          <a:bodyPr wrap="square" lIns="0" rIns="0" tIns="0" bIns="0">
            <a:spAutoFit/>
          </a:bodyPr>
          <a:lstStyle/>
          <a:p>
            <a:pPr algn="l">
              <a:spcBef>
                <a:spcPts val="0"/>
              </a:spcBef>
              <a:spcAft>
                <a:spcPts val="0"/>
              </a:spcAft>
            </a:pPr>
            <a:r>
              <a:rPr sz="850" b="0" i="0">
                <a:solidFill>
                  <a:srgbClr val="94A3B8"/>
                </a:solidFill>
                <a:latin typeface="Calibri"/>
              </a:rPr>
              <a:t>CNC Tool Wear Prediction And Scrap Risk Signal  ·  academic project  ·  Oct 2026</a:t>
            </a:r>
          </a:p>
        </p:txBody>
      </p:sp>
      <p:sp>
        <p:nvSpPr>
          <p:cNvPr id="5" name="TextBox 4"/>
          <p:cNvSpPr txBox="1"/>
          <p:nvPr/>
        </p:nvSpPr>
        <p:spPr>
          <a:xfrm>
            <a:off x="10972800" y="6473952"/>
            <a:ext cx="777240" cy="292608"/>
          </a:xfrm>
          <a:prstGeom prst="rect">
            <a:avLst/>
          </a:prstGeom>
          <a:noFill/>
        </p:spPr>
        <p:txBody>
          <a:bodyPr wrap="square" lIns="0" rIns="0" tIns="0" bIns="0">
            <a:spAutoFit/>
          </a:bodyPr>
          <a:lstStyle/>
          <a:p>
            <a:pPr algn="r">
              <a:spcBef>
                <a:spcPts val="0"/>
              </a:spcBef>
              <a:spcAft>
                <a:spcPts val="0"/>
              </a:spcAft>
            </a:pPr>
            <a:r>
              <a:rPr sz="850" b="0" i="0">
                <a:solidFill>
                  <a:srgbClr val="94A3B8"/>
                </a:solidFill>
                <a:latin typeface="Calibri"/>
              </a:rPr>
              <a:t>2 / 10</a:t>
            </a:r>
          </a:p>
        </p:txBody>
      </p:sp>
      <p:sp>
        <p:nvSpPr>
          <p:cNvPr id="6" name="TextBox 5"/>
          <p:cNvSpPr txBox="1"/>
          <p:nvPr/>
        </p:nvSpPr>
        <p:spPr>
          <a:xfrm>
            <a:off x="502920" y="1481328"/>
            <a:ext cx="6903720" cy="3017520"/>
          </a:xfrm>
          <a:prstGeom prst="rect">
            <a:avLst/>
          </a:prstGeom>
          <a:noFill/>
        </p:spPr>
        <p:txBody>
          <a:bodyPr wrap="square" lIns="0" rIns="0" tIns="0" bIns="0">
            <a:spAutoFit/>
          </a:bodyPr>
          <a:lstStyle/>
          <a:p>
            <a:pPr algn="l">
              <a:spcBef>
                <a:spcPts val="0"/>
              </a:spcBef>
              <a:spcAft>
                <a:spcPts val="600"/>
              </a:spcAft>
            </a:pPr>
            <a:r>
              <a:rPr sz="1250" b="1">
                <a:solidFill>
                  <a:srgbClr val="3B82F6"/>
                </a:solidFill>
                <a:latin typeface="Calibri"/>
              </a:rPr>
              <a:t>▸  </a:t>
            </a:r>
            <a:r>
              <a:rPr sz="1250" b="1">
                <a:solidFill>
                  <a:srgbClr val="F1F5F9"/>
                </a:solidFill>
                <a:latin typeface="Calibri"/>
              </a:rPr>
              <a:t>The failure mode:  </a:t>
            </a:r>
            <a:r>
              <a:rPr sz="1250">
                <a:solidFill>
                  <a:srgbClr val="F1F5F9"/>
                </a:solidFill>
                <a:latin typeface="Calibri"/>
              </a:rPr>
              <a:t>Progressive flank wear (VB) degrades dimensional accuracy and surface finish; undetected wear ends in scrap, unplanned downtime and tool breakage.</a:t>
            </a:r>
          </a:p>
          <a:p>
            <a:pPr algn="l">
              <a:spcBef>
                <a:spcPts val="0"/>
              </a:spcBef>
              <a:spcAft>
                <a:spcPts val="600"/>
              </a:spcAft>
            </a:pPr>
            <a:r>
              <a:rPr sz="1250" b="1">
                <a:solidFill>
                  <a:srgbClr val="3B82F6"/>
                </a:solidFill>
                <a:latin typeface="Calibri"/>
              </a:rPr>
              <a:t>▸  </a:t>
            </a:r>
            <a:r>
              <a:rPr sz="1250" b="1">
                <a:solidFill>
                  <a:srgbClr val="F1F5F9"/>
                </a:solidFill>
                <a:latin typeface="Calibri"/>
              </a:rPr>
              <a:t>The cost:  </a:t>
            </a:r>
            <a:r>
              <a:rPr sz="1250">
                <a:solidFill>
                  <a:srgbClr val="F1F5F9"/>
                </a:solidFill>
                <a:latin typeface="Calibri"/>
              </a:rPr>
              <a:t>cutting tooling is 3–12 % of total production cost (Teti 2002 via [P1]; Zhang et al. via [P3]).</a:t>
            </a:r>
          </a:p>
          <a:p>
            <a:pPr algn="l">
              <a:spcBef>
                <a:spcPts val="0"/>
              </a:spcBef>
              <a:spcAft>
                <a:spcPts val="600"/>
              </a:spcAft>
            </a:pPr>
            <a:r>
              <a:rPr sz="1250" b="1">
                <a:solidFill>
                  <a:srgbClr val="3B82F6"/>
                </a:solidFill>
                <a:latin typeface="Calibri"/>
              </a:rPr>
              <a:t>▸  </a:t>
            </a:r>
            <a:r>
              <a:rPr sz="1250" b="1">
                <a:solidFill>
                  <a:srgbClr val="F1F5F9"/>
                </a:solidFill>
                <a:latin typeface="Calibri"/>
              </a:rPr>
              <a:t>The downtime:  </a:t>
            </a:r>
            <a:r>
              <a:rPr sz="1250">
                <a:solidFill>
                  <a:srgbClr val="F1F5F9"/>
                </a:solidFill>
                <a:latin typeface="Calibri"/>
              </a:rPr>
              <a:t>≈ 20 % of nonproduction time is due to tool wear [P1 §1]; tool failure causes &gt; 35 % of production-line malfunctions [P2 §I].</a:t>
            </a:r>
          </a:p>
          <a:p>
            <a:pPr algn="l">
              <a:spcBef>
                <a:spcPts val="0"/>
              </a:spcBef>
              <a:spcAft>
                <a:spcPts val="600"/>
              </a:spcAft>
            </a:pPr>
            <a:r>
              <a:rPr sz="1250" b="1">
                <a:solidFill>
                  <a:srgbClr val="3B82F6"/>
                </a:solidFill>
                <a:latin typeface="Calibri"/>
              </a:rPr>
              <a:t>▸  </a:t>
            </a:r>
            <a:r>
              <a:rPr sz="1250" b="1">
                <a:solidFill>
                  <a:srgbClr val="F1F5F9"/>
                </a:solidFill>
                <a:latin typeface="Calibri"/>
              </a:rPr>
              <a:t>The opportunity:  </a:t>
            </a:r>
            <a:r>
              <a:rPr sz="1250">
                <a:solidFill>
                  <a:srgbClr val="F1F5F9"/>
                </a:solidFill>
                <a:latin typeface="Calibri"/>
              </a:rPr>
              <a:t>a reliable TCM system yields 10–50 % higher cutting speed, 75 % less downtime and ≈ 30 % maintenance-cost saving [P3 §1].</a:t>
            </a:r>
          </a:p>
          <a:p>
            <a:pPr algn="l">
              <a:spcBef>
                <a:spcPts val="0"/>
              </a:spcBef>
              <a:spcAft>
                <a:spcPts val="600"/>
              </a:spcAft>
            </a:pPr>
            <a:r>
              <a:rPr sz="1250" b="1">
                <a:solidFill>
                  <a:srgbClr val="3B82F6"/>
                </a:solidFill>
                <a:latin typeface="Calibri"/>
              </a:rPr>
              <a:t>▸  </a:t>
            </a:r>
            <a:r>
              <a:rPr sz="1250" b="1">
                <a:solidFill>
                  <a:srgbClr val="F1F5F9"/>
                </a:solidFill>
                <a:latin typeface="Calibri"/>
              </a:rPr>
              <a:t>The gap:  </a:t>
            </a:r>
            <a:r>
              <a:rPr sz="1250">
                <a:solidFill>
                  <a:srgbClr val="F1F5F9"/>
                </a:solidFill>
                <a:latin typeface="Calibri"/>
              </a:rPr>
              <a:t>periodic replacement wastes usable tool life; subjective engineer judgement loses &gt; 40 % of achievable tool-cost savings [P1 §1].</a:t>
            </a:r>
          </a:p>
        </p:txBody>
      </p:sp>
      <p:sp>
        <p:nvSpPr>
          <p:cNvPr id="7" name="Rounded Rectangle 6"/>
          <p:cNvSpPr/>
          <p:nvPr/>
        </p:nvSpPr>
        <p:spPr>
          <a:xfrm>
            <a:off x="502920" y="4572000"/>
            <a:ext cx="6903720" cy="1691640"/>
          </a:xfrm>
          <a:prstGeom prst="roundRect">
            <a:avLst/>
          </a:prstGeom>
          <a:solidFill>
            <a:srgbClr val="1E293B"/>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91440" bIns="73152"/>
          <a:lstStyle/>
          <a:p>
            <a:pPr algn="l">
              <a:spcBef>
                <a:spcPts val="0"/>
              </a:spcBef>
              <a:spcAft>
                <a:spcPts val="400"/>
              </a:spcAft>
            </a:pPr>
            <a:r>
              <a:rPr sz="1100" b="1" i="0">
                <a:solidFill>
                  <a:srgbClr val="3B82F6"/>
                </a:solidFill>
                <a:latin typeface="Calibri"/>
              </a:rPr>
              <a:t>PROJECT OBJECTIVES</a:t>
            </a:r>
          </a:p>
          <a:p>
            <a:pPr algn="l">
              <a:spcBef>
                <a:spcPts val="0"/>
              </a:spcBef>
              <a:spcAft>
                <a:spcPts val="300"/>
              </a:spcAft>
            </a:pPr>
            <a:r>
              <a:rPr sz="1100" b="1">
                <a:solidFill>
                  <a:srgbClr val="10B981"/>
                </a:solidFill>
                <a:latin typeface="Calibri"/>
              </a:rPr>
              <a:t>1.  </a:t>
            </a:r>
            <a:r>
              <a:rPr sz="1100">
                <a:solidFill>
                  <a:srgbClr val="F1F5F9"/>
                </a:solidFill>
                <a:latin typeface="Calibri"/>
              </a:rPr>
              <a:t>Estimate flank wear VB (mm) with a statistically calibrated uncertainty band — never a falsely-precise single number.</a:t>
            </a:r>
          </a:p>
          <a:p>
            <a:pPr algn="l">
              <a:spcBef>
                <a:spcPts val="0"/>
              </a:spcBef>
              <a:spcAft>
                <a:spcPts val="300"/>
              </a:spcAft>
            </a:pPr>
            <a:r>
              <a:rPr sz="1100" b="1">
                <a:solidFill>
                  <a:srgbClr val="10B981"/>
                </a:solidFill>
                <a:latin typeface="Calibri"/>
              </a:rPr>
              <a:t>2.  </a:t>
            </a:r>
            <a:r>
              <a:rPr sz="1100">
                <a:solidFill>
                  <a:srgbClr val="F1F5F9"/>
                </a:solidFill>
                <a:latin typeface="Calibri"/>
              </a:rPr>
              <a:t>Signal calibrated scrap-defect risk anchored to the ISO 3685 tool-life criterion (VB = 0.30 mm).</a:t>
            </a:r>
          </a:p>
          <a:p>
            <a:pPr algn="l">
              <a:spcBef>
                <a:spcPts val="0"/>
              </a:spcBef>
              <a:spcAft>
                <a:spcPts val="300"/>
              </a:spcAft>
            </a:pPr>
            <a:r>
              <a:rPr sz="1100" b="1">
                <a:solidFill>
                  <a:srgbClr val="10B981"/>
                </a:solidFill>
                <a:latin typeface="Calibri"/>
              </a:rPr>
              <a:t>3.  </a:t>
            </a:r>
            <a:r>
              <a:rPr sz="1100">
                <a:solidFill>
                  <a:srgbClr val="F1F5F9"/>
                </a:solidFill>
                <a:latin typeface="Calibri"/>
              </a:rPr>
              <a:t>Explain every prediction with SHAP and narrate it into a plain-language operator bulletin.</a:t>
            </a:r>
          </a:p>
          <a:p>
            <a:pPr algn="l">
              <a:spcBef>
                <a:spcPts val="0"/>
              </a:spcBef>
              <a:spcAft>
                <a:spcPts val="300"/>
              </a:spcAft>
            </a:pPr>
            <a:r>
              <a:rPr sz="1100" b="1">
                <a:solidFill>
                  <a:srgbClr val="10B981"/>
                </a:solidFill>
                <a:latin typeface="Calibri"/>
              </a:rPr>
              <a:t>4.  </a:t>
            </a:r>
            <a:r>
              <a:rPr sz="1100">
                <a:solidFill>
                  <a:srgbClr val="F1F5F9"/>
                </a:solidFill>
                <a:latin typeface="Calibri"/>
              </a:rPr>
              <a:t>Remain strictly decision-support: no machine control, no autonomous action.</a:t>
            </a:r>
          </a:p>
        </p:txBody>
      </p:sp>
      <p:pic>
        <p:nvPicPr>
          <p:cNvPr id="8" name="Picture 7" descr="tool_wear_macro.jpg"/>
          <p:cNvPicPr>
            <a:picLocks noChangeAspect="1"/>
          </p:cNvPicPr>
          <p:nvPr/>
        </p:nvPicPr>
        <p:blipFill>
          <a:blip r:embed="rId2"/>
          <a:srcRect l="20707" r="20707"/>
          <a:stretch>
            <a:fillRect/>
          </a:stretch>
        </p:blipFill>
        <p:spPr>
          <a:xfrm>
            <a:off x="7726679" y="1481328"/>
            <a:ext cx="3977639" cy="3703320"/>
          </a:xfrm>
          <a:prstGeom prst="rect">
            <a:avLst/>
          </a:prstGeom>
        </p:spPr>
      </p:pic>
      <p:sp>
        <p:nvSpPr>
          <p:cNvPr id="9" name="TextBox 8"/>
          <p:cNvSpPr txBox="1"/>
          <p:nvPr/>
        </p:nvSpPr>
        <p:spPr>
          <a:xfrm>
            <a:off x="7726679" y="5285232"/>
            <a:ext cx="3977639" cy="914400"/>
          </a:xfrm>
          <a:prstGeom prst="rect">
            <a:avLst/>
          </a:prstGeom>
          <a:noFill/>
        </p:spPr>
        <p:txBody>
          <a:bodyPr wrap="square" lIns="0" rIns="0" tIns="0" bIns="0">
            <a:spAutoFit/>
          </a:bodyPr>
          <a:lstStyle/>
          <a:p>
            <a:pPr algn="l">
              <a:spcBef>
                <a:spcPts val="0"/>
              </a:spcBef>
              <a:spcAft>
                <a:spcPts val="0"/>
              </a:spcAft>
            </a:pPr>
            <a:r>
              <a:rPr sz="900" b="0" i="1">
                <a:solidFill>
                  <a:srgbClr val="94A3B8"/>
                </a:solidFill>
                <a:latin typeface="Calibri"/>
              </a:rPr>
              <a:t>Flank wear land on a carbide insert — the abrasive wear band (VB) this system predicts and the metric all three reference papers converge 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02920" y="292608"/>
            <a:ext cx="10058400" cy="1051560"/>
          </a:xfrm>
          <a:prstGeom prst="rect">
            <a:avLst/>
          </a:prstGeom>
          <a:noFill/>
        </p:spPr>
        <p:txBody>
          <a:bodyPr wrap="square" lIns="0" rIns="0" tIns="0" bIns="0">
            <a:spAutoFit/>
          </a:bodyPr>
          <a:lstStyle/>
          <a:p>
            <a:pPr algn="l">
              <a:spcBef>
                <a:spcPts val="0"/>
              </a:spcBef>
              <a:spcAft>
                <a:spcPts val="300"/>
              </a:spcAft>
            </a:pPr>
            <a:r>
              <a:rPr sz="1000" b="1" i="0">
                <a:solidFill>
                  <a:srgbClr val="3B82F6"/>
                </a:solidFill>
                <a:latin typeface="Calibri"/>
              </a:rPr>
              <a:t>SECTION 2 — GROUND TRUTH</a:t>
            </a:r>
          </a:p>
          <a:p>
            <a:pPr algn="l">
              <a:spcBef>
                <a:spcPts val="0"/>
              </a:spcBef>
              <a:spcAft>
                <a:spcPts val="0"/>
              </a:spcAft>
            </a:pPr>
            <a:r>
              <a:rPr sz="2600" b="1" i="0">
                <a:solidFill>
                  <a:srgbClr val="F1F5F9"/>
                </a:solidFill>
                <a:latin typeface="Calibri"/>
              </a:rPr>
              <a:t>Literature Review — the three validating papers</a:t>
            </a:r>
          </a:p>
        </p:txBody>
      </p:sp>
      <p:sp>
        <p:nvSpPr>
          <p:cNvPr id="3" name="Rectangle 2"/>
          <p:cNvSpPr/>
          <p:nvPr/>
        </p:nvSpPr>
        <p:spPr>
          <a:xfrm>
            <a:off x="521207" y="1170432"/>
            <a:ext cx="1920240" cy="2794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73952"/>
            <a:ext cx="8686800" cy="292608"/>
          </a:xfrm>
          <a:prstGeom prst="rect">
            <a:avLst/>
          </a:prstGeom>
          <a:noFill/>
        </p:spPr>
        <p:txBody>
          <a:bodyPr wrap="square" lIns="0" rIns="0" tIns="0" bIns="0">
            <a:spAutoFit/>
          </a:bodyPr>
          <a:lstStyle/>
          <a:p>
            <a:pPr algn="l">
              <a:spcBef>
                <a:spcPts val="0"/>
              </a:spcBef>
              <a:spcAft>
                <a:spcPts val="0"/>
              </a:spcAft>
            </a:pPr>
            <a:r>
              <a:rPr sz="850" b="0" i="0">
                <a:solidFill>
                  <a:srgbClr val="94A3B8"/>
                </a:solidFill>
                <a:latin typeface="Calibri"/>
              </a:rPr>
              <a:t>CNC Tool Wear Prediction And Scrap Risk Signal  ·  academic project  ·  Oct 2026</a:t>
            </a:r>
          </a:p>
        </p:txBody>
      </p:sp>
      <p:sp>
        <p:nvSpPr>
          <p:cNvPr id="5" name="TextBox 4"/>
          <p:cNvSpPr txBox="1"/>
          <p:nvPr/>
        </p:nvSpPr>
        <p:spPr>
          <a:xfrm>
            <a:off x="10972800" y="6473952"/>
            <a:ext cx="777240" cy="292608"/>
          </a:xfrm>
          <a:prstGeom prst="rect">
            <a:avLst/>
          </a:prstGeom>
          <a:noFill/>
        </p:spPr>
        <p:txBody>
          <a:bodyPr wrap="square" lIns="0" rIns="0" tIns="0" bIns="0">
            <a:spAutoFit/>
          </a:bodyPr>
          <a:lstStyle/>
          <a:p>
            <a:pPr algn="r">
              <a:spcBef>
                <a:spcPts val="0"/>
              </a:spcBef>
              <a:spcAft>
                <a:spcPts val="0"/>
              </a:spcAft>
            </a:pPr>
            <a:r>
              <a:rPr sz="850" b="0" i="0">
                <a:solidFill>
                  <a:srgbClr val="94A3B8"/>
                </a:solidFill>
                <a:latin typeface="Calibri"/>
              </a:rPr>
              <a:t>3 / 10</a:t>
            </a:r>
          </a:p>
        </p:txBody>
      </p:sp>
      <p:sp>
        <p:nvSpPr>
          <p:cNvPr id="6" name="Rounded Rectangle 5"/>
          <p:cNvSpPr/>
          <p:nvPr/>
        </p:nvSpPr>
        <p:spPr>
          <a:xfrm>
            <a:off x="502920" y="1417320"/>
            <a:ext cx="11201400" cy="1481328"/>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91440" bIns="73152"/>
          <a:lstStyle/>
          <a:p>
            <a:pPr algn="l">
              <a:spcBef>
                <a:spcPts val="0"/>
              </a:spcBef>
              <a:spcAft>
                <a:spcPts val="200"/>
              </a:spcAft>
            </a:pPr>
            <a:r>
              <a:rPr sz="1250" b="1" i="0">
                <a:solidFill>
                  <a:srgbClr val="F1F5F9"/>
                </a:solidFill>
                <a:latin typeface="Calibri"/>
              </a:rPr>
              <a:t>[P1]  Dong &amp; Li — Online Detection of Turning Tool Wear Based on Machine Vision</a:t>
            </a:r>
          </a:p>
          <a:p>
            <a:pPr algn="l">
              <a:spcBef>
                <a:spcPts val="0"/>
              </a:spcBef>
              <a:spcAft>
                <a:spcPts val="400"/>
              </a:spcAft>
            </a:pPr>
            <a:r>
              <a:rPr sz="950" b="1" i="0">
                <a:solidFill>
                  <a:srgbClr val="3B82F6"/>
                </a:solidFill>
                <a:latin typeface="Calibri"/>
              </a:rPr>
              <a:t>ASME JCISE 22(5) 050903, 2022  ·  doi:10.1115/1.4053919</a:t>
            </a:r>
          </a:p>
          <a:p>
            <a:pPr algn="l">
              <a:spcBef>
                <a:spcPts val="0"/>
              </a:spcBef>
              <a:spcAft>
                <a:spcPts val="0"/>
              </a:spcAft>
            </a:pPr>
            <a:r>
              <a:rPr sz="1050" b="0" i="0">
                <a:solidFill>
                  <a:srgbClr val="94A3B8"/>
                </a:solidFill>
                <a:latin typeface="Calibri"/>
              </a:rPr>
              <a:t>Direct online vision measurement of VB-mean on a turning tool: crop → k-means segmentation → grayscale luminance Y = 0.3R + 0.59G + 0.11B → Robert's edge operator → Hough-transform width. Micron-scale agreement with manual measurement (0.064/0.086/0.096 mm vs 0.062/0.089/0.093 mm). Supplies the economic base: tooling 3–12 % of production cost, ≈20 % nonproduction time, &gt;40 % sensor savings.</a:t>
            </a:r>
          </a:p>
        </p:txBody>
      </p:sp>
      <p:sp>
        <p:nvSpPr>
          <p:cNvPr id="7" name="Rounded Rectangle 6"/>
          <p:cNvSpPr/>
          <p:nvPr/>
        </p:nvSpPr>
        <p:spPr>
          <a:xfrm>
            <a:off x="502920" y="3026664"/>
            <a:ext cx="11201400" cy="1481328"/>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91440" bIns="73152"/>
          <a:lstStyle/>
          <a:p>
            <a:pPr algn="l">
              <a:spcBef>
                <a:spcPts val="0"/>
              </a:spcBef>
              <a:spcAft>
                <a:spcPts val="200"/>
              </a:spcAft>
            </a:pPr>
            <a:r>
              <a:rPr sz="1250" b="1" i="0">
                <a:solidFill>
                  <a:srgbClr val="F1F5F9"/>
                </a:solidFill>
                <a:latin typeface="Calibri"/>
              </a:rPr>
              <a:t>[P2]  Fan — CNC Tool Wear Prediction Integrating Deep Reinforcement Learning &amp; Edge Data Processing</a:t>
            </a:r>
          </a:p>
          <a:p>
            <a:pPr algn="l">
              <a:spcBef>
                <a:spcPts val="0"/>
              </a:spcBef>
              <a:spcAft>
                <a:spcPts val="400"/>
              </a:spcAft>
            </a:pPr>
            <a:r>
              <a:rPr sz="950" b="1" i="0">
                <a:solidFill>
                  <a:srgbClr val="3B82F6"/>
                </a:solidFill>
                <a:latin typeface="Calibri"/>
              </a:rPr>
              <a:t>DAPIC 2026  ·  doi:10.23919/DAPIC.2026.00023</a:t>
            </a:r>
          </a:p>
          <a:p>
            <a:pPr algn="l">
              <a:spcBef>
                <a:spcPts val="0"/>
              </a:spcBef>
              <a:spcAft>
                <a:spcPts val="0"/>
              </a:spcAft>
            </a:pPr>
            <a:r>
              <a:rPr sz="1050" b="0" i="0">
                <a:solidFill>
                  <a:srgbClr val="94A3B8"/>
                </a:solidFill>
                <a:latin typeface="Calibri"/>
              </a:rPr>
              <a:t>Indirect sensing (PCB 356A16 accelerometer + Kistler 9257B dynamometer, 1–5 kHz) → adaptive sliding-window denoising → attention features → lightweight DRL (A-LWDRL) on a Jetson Xavier NX. Benchmarks: MAE 0.023/0.028 mm, RMSE 0.031/0.036 mm, wear-level accuracy 98.7 %, 2.3 MB, 12.8 ms. Validates wear stages 0–0.05 / 0.05–0.15 / 0.15–0.2 mm on PHM 2010 (Inconel 718, WC-Co) and real 45# steel.</a:t>
            </a:r>
          </a:p>
        </p:txBody>
      </p:sp>
      <p:sp>
        <p:nvSpPr>
          <p:cNvPr id="8" name="Rounded Rectangle 7"/>
          <p:cNvSpPr/>
          <p:nvPr/>
        </p:nvSpPr>
        <p:spPr>
          <a:xfrm>
            <a:off x="502920" y="4636008"/>
            <a:ext cx="11201400" cy="1481328"/>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91440" bIns="73152"/>
          <a:lstStyle/>
          <a:p>
            <a:pPr algn="l">
              <a:spcBef>
                <a:spcPts val="0"/>
              </a:spcBef>
              <a:spcAft>
                <a:spcPts val="200"/>
              </a:spcAft>
            </a:pPr>
            <a:r>
              <a:rPr sz="1250" b="1" i="0">
                <a:solidFill>
                  <a:srgbClr val="F1F5F9"/>
                </a:solidFill>
                <a:latin typeface="Calibri"/>
              </a:rPr>
              <a:t>[P3]  Munaro, Attanasio &amp; Del Prete — Tool Wear Monitoring with AI Methods: A Review</a:t>
            </a:r>
          </a:p>
          <a:p>
            <a:pPr algn="l">
              <a:spcBef>
                <a:spcPts val="0"/>
              </a:spcBef>
              <a:spcAft>
                <a:spcPts val="400"/>
              </a:spcAft>
            </a:pPr>
            <a:r>
              <a:rPr sz="950" b="1" i="0">
                <a:solidFill>
                  <a:srgbClr val="3B82F6"/>
                </a:solidFill>
                <a:latin typeface="Calibri"/>
              </a:rPr>
              <a:t>JMMP 7(4) 129, 2023  ·  doi:10.3390/jmmp7040129  ·  77 papers, 2010–2022</a:t>
            </a:r>
          </a:p>
          <a:p>
            <a:pPr algn="l">
              <a:spcBef>
                <a:spcPts val="0"/>
              </a:spcBef>
              <a:spcAft>
                <a:spcPts val="0"/>
              </a:spcAft>
            </a:pPr>
            <a:r>
              <a:rPr sz="1050" b="0" i="0">
                <a:solidFill>
                  <a:srgbClr val="94A3B8"/>
                </a:solidFill>
                <a:latin typeface="Calibri"/>
              </a:rPr>
              <a:t>Sensor ranking: cutting force (41 studies) &gt; vibration (21) &gt; acoustic emission (18) &gt; current/power (16) &gt; sound (7). Features: time domain most used (RMS, mean, std, kurtosis). AI: ANN 14, SVM 10, fuzzy 5, GA/BN 4… Accuracy 84–100 % for known wear, ≈73 % for new tools. ISO 3685 sets the VB tool-life limit at 0.3 mm.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02920" y="292608"/>
            <a:ext cx="10058400" cy="1051560"/>
          </a:xfrm>
          <a:prstGeom prst="rect">
            <a:avLst/>
          </a:prstGeom>
          <a:noFill/>
        </p:spPr>
        <p:txBody>
          <a:bodyPr wrap="square" lIns="0" rIns="0" tIns="0" bIns="0">
            <a:spAutoFit/>
          </a:bodyPr>
          <a:lstStyle/>
          <a:p>
            <a:pPr algn="l">
              <a:spcBef>
                <a:spcPts val="0"/>
              </a:spcBef>
              <a:spcAft>
                <a:spcPts val="300"/>
              </a:spcAft>
            </a:pPr>
            <a:r>
              <a:rPr sz="1000" b="1" i="0">
                <a:solidFill>
                  <a:srgbClr val="3B82F6"/>
                </a:solidFill>
                <a:latin typeface="Calibri"/>
              </a:rPr>
              <a:t>SECTION 3 — METHOD</a:t>
            </a:r>
          </a:p>
          <a:p>
            <a:pPr algn="l">
              <a:spcBef>
                <a:spcPts val="0"/>
              </a:spcBef>
              <a:spcAft>
                <a:spcPts val="0"/>
              </a:spcAft>
            </a:pPr>
            <a:r>
              <a:rPr sz="2600" b="1" i="0">
                <a:solidFill>
                  <a:srgbClr val="F1F5F9"/>
                </a:solidFill>
                <a:latin typeface="Calibri"/>
              </a:rPr>
              <a:t>System Architecture — physics + ML hybrid pipeline</a:t>
            </a:r>
          </a:p>
        </p:txBody>
      </p:sp>
      <p:sp>
        <p:nvSpPr>
          <p:cNvPr id="3" name="Rectangle 2"/>
          <p:cNvSpPr/>
          <p:nvPr/>
        </p:nvSpPr>
        <p:spPr>
          <a:xfrm>
            <a:off x="521207" y="1170432"/>
            <a:ext cx="1920240" cy="2794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73952"/>
            <a:ext cx="8686800" cy="292608"/>
          </a:xfrm>
          <a:prstGeom prst="rect">
            <a:avLst/>
          </a:prstGeom>
          <a:noFill/>
        </p:spPr>
        <p:txBody>
          <a:bodyPr wrap="square" lIns="0" rIns="0" tIns="0" bIns="0">
            <a:spAutoFit/>
          </a:bodyPr>
          <a:lstStyle/>
          <a:p>
            <a:pPr algn="l">
              <a:spcBef>
                <a:spcPts val="0"/>
              </a:spcBef>
              <a:spcAft>
                <a:spcPts val="0"/>
              </a:spcAft>
            </a:pPr>
            <a:r>
              <a:rPr sz="850" b="0" i="0">
                <a:solidFill>
                  <a:srgbClr val="94A3B8"/>
                </a:solidFill>
                <a:latin typeface="Calibri"/>
              </a:rPr>
              <a:t>CNC Tool Wear Prediction And Scrap Risk Signal  ·  academic project  ·  Oct 2026</a:t>
            </a:r>
          </a:p>
        </p:txBody>
      </p:sp>
      <p:sp>
        <p:nvSpPr>
          <p:cNvPr id="5" name="TextBox 4"/>
          <p:cNvSpPr txBox="1"/>
          <p:nvPr/>
        </p:nvSpPr>
        <p:spPr>
          <a:xfrm>
            <a:off x="10972800" y="6473952"/>
            <a:ext cx="777240" cy="292608"/>
          </a:xfrm>
          <a:prstGeom prst="rect">
            <a:avLst/>
          </a:prstGeom>
          <a:noFill/>
        </p:spPr>
        <p:txBody>
          <a:bodyPr wrap="square" lIns="0" rIns="0" tIns="0" bIns="0">
            <a:spAutoFit/>
          </a:bodyPr>
          <a:lstStyle/>
          <a:p>
            <a:pPr algn="r">
              <a:spcBef>
                <a:spcPts val="0"/>
              </a:spcBef>
              <a:spcAft>
                <a:spcPts val="0"/>
              </a:spcAft>
            </a:pPr>
            <a:r>
              <a:rPr sz="850" b="0" i="0">
                <a:solidFill>
                  <a:srgbClr val="94A3B8"/>
                </a:solidFill>
                <a:latin typeface="Calibri"/>
              </a:rPr>
              <a:t>4 / 10</a:t>
            </a:r>
          </a:p>
        </p:txBody>
      </p:sp>
      <p:sp>
        <p:nvSpPr>
          <p:cNvPr id="6" name="Rounded Rectangle 5"/>
          <p:cNvSpPr/>
          <p:nvPr/>
        </p:nvSpPr>
        <p:spPr>
          <a:xfrm>
            <a:off x="448056" y="1481328"/>
            <a:ext cx="1700784" cy="1481328"/>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91440" bIns="73152"/>
          <a:lstStyle/>
          <a:p>
            <a:pPr algn="l">
              <a:spcBef>
                <a:spcPts val="0"/>
              </a:spcBef>
              <a:spcAft>
                <a:spcPts val="300"/>
              </a:spcAft>
            </a:pPr>
            <a:r>
              <a:rPr sz="1050" b="1" i="0">
                <a:solidFill>
                  <a:srgbClr val="3B82F6"/>
                </a:solidFill>
                <a:latin typeface="Calibri"/>
              </a:rPr>
              <a:t>Process &amp; tooling inputs</a:t>
            </a:r>
          </a:p>
          <a:p>
            <a:pPr algn="l">
              <a:spcBef>
                <a:spcPts val="0"/>
              </a:spcBef>
              <a:spcAft>
                <a:spcPts val="0"/>
              </a:spcAft>
            </a:pPr>
            <a:r>
              <a:rPr sz="860" b="0" i="0">
                <a:solidFill>
                  <a:srgbClr val="F1F5F9"/>
                </a:solidFill>
                <a:latin typeface="Calibri"/>
              </a:rPr>
              <a:t>23 features: material, coolant, coating, RPM, feed, ap, ae, Ø, Z, nose radius, runtime…</a:t>
            </a:r>
          </a:p>
        </p:txBody>
      </p:sp>
      <p:sp>
        <p:nvSpPr>
          <p:cNvPr id="7" name="Right Arrow 6"/>
          <p:cNvSpPr/>
          <p:nvPr/>
        </p:nvSpPr>
        <p:spPr>
          <a:xfrm>
            <a:off x="2180844" y="2084831"/>
            <a:ext cx="160020" cy="274320"/>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372868" y="1481328"/>
            <a:ext cx="1700784" cy="1481328"/>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91440" bIns="73152"/>
          <a:lstStyle/>
          <a:p>
            <a:pPr algn="l">
              <a:spcBef>
                <a:spcPts val="0"/>
              </a:spcBef>
              <a:spcAft>
                <a:spcPts val="300"/>
              </a:spcAft>
            </a:pPr>
            <a:r>
              <a:rPr sz="1050" b="1" i="0">
                <a:solidFill>
                  <a:srgbClr val="3B82F6"/>
                </a:solidFill>
                <a:latin typeface="Calibri"/>
              </a:rPr>
              <a:t>Physics engine</a:t>
            </a:r>
          </a:p>
          <a:p>
            <a:pPr algn="l">
              <a:spcBef>
                <a:spcPts val="0"/>
              </a:spcBef>
              <a:spcAft>
                <a:spcPts val="0"/>
              </a:spcAft>
            </a:pPr>
            <a:r>
              <a:rPr sz="860" b="0" i="0">
                <a:solidFill>
                  <a:srgbClr val="F1F5F9"/>
                </a:solidFill>
                <a:latin typeface="Calibri"/>
              </a:rPr>
              <a:t>Extended Taylor life, Vc = πDN/1000, MRR = ap·ae·vf/1000, cutting energy, Ra ≈ f²/32rε</a:t>
            </a:r>
          </a:p>
        </p:txBody>
      </p:sp>
      <p:sp>
        <p:nvSpPr>
          <p:cNvPr id="9" name="Right Arrow 8"/>
          <p:cNvSpPr/>
          <p:nvPr/>
        </p:nvSpPr>
        <p:spPr>
          <a:xfrm>
            <a:off x="4105656" y="2084831"/>
            <a:ext cx="160020" cy="274320"/>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97679" y="1481328"/>
            <a:ext cx="1700784" cy="1481328"/>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91440" bIns="73152"/>
          <a:lstStyle/>
          <a:p>
            <a:pPr algn="l">
              <a:spcBef>
                <a:spcPts val="0"/>
              </a:spcBef>
              <a:spcAft>
                <a:spcPts val="300"/>
              </a:spcAft>
            </a:pPr>
            <a:r>
              <a:rPr sz="1050" b="1" i="0">
                <a:solidFill>
                  <a:srgbClr val="3B82F6"/>
                </a:solidFill>
                <a:latin typeface="Calibri"/>
              </a:rPr>
              <a:t>Feature engineering</a:t>
            </a:r>
          </a:p>
          <a:p>
            <a:pPr algn="l">
              <a:spcBef>
                <a:spcPts val="0"/>
              </a:spcBef>
              <a:spcAft>
                <a:spcPts val="0"/>
              </a:spcAft>
            </a:pPr>
            <a:r>
              <a:rPr sz="860" b="0" i="0">
                <a:solidFill>
                  <a:srgbClr val="F1F5F9"/>
                </a:solidFill>
                <a:latin typeface="Calibri"/>
              </a:rPr>
              <a:t>Rolling-window instability features (time domain, per [P3 §4.5.2])</a:t>
            </a:r>
          </a:p>
        </p:txBody>
      </p:sp>
      <p:sp>
        <p:nvSpPr>
          <p:cNvPr id="11" name="Right Arrow 10"/>
          <p:cNvSpPr/>
          <p:nvPr/>
        </p:nvSpPr>
        <p:spPr>
          <a:xfrm>
            <a:off x="6030468" y="2084831"/>
            <a:ext cx="160020" cy="274320"/>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22492" y="1481328"/>
            <a:ext cx="1700784" cy="1481328"/>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91440" bIns="73152"/>
          <a:lstStyle/>
          <a:p>
            <a:pPr algn="l">
              <a:spcBef>
                <a:spcPts val="0"/>
              </a:spcBef>
              <a:spcAft>
                <a:spcPts val="300"/>
              </a:spcAft>
            </a:pPr>
            <a:r>
              <a:rPr sz="1050" b="1" i="0">
                <a:solidFill>
                  <a:srgbClr val="3B82F6"/>
                </a:solidFill>
                <a:latin typeface="Calibri"/>
              </a:rPr>
              <a:t>Quantile ML core</a:t>
            </a:r>
          </a:p>
          <a:p>
            <a:pPr algn="l">
              <a:spcBef>
                <a:spcPts val="0"/>
              </a:spcBef>
              <a:spcAft>
                <a:spcPts val="0"/>
              </a:spcAft>
            </a:pPr>
            <a:r>
              <a:rPr sz="860" b="0" i="0">
                <a:solidFill>
                  <a:srgbClr val="F1F5F9"/>
                </a:solidFill>
                <a:latin typeface="Calibri"/>
              </a:rPr>
              <a:t>GBM Q10/Q50/Q90 on pinball loss + split-conformal coverage guarantee</a:t>
            </a:r>
          </a:p>
        </p:txBody>
      </p:sp>
      <p:sp>
        <p:nvSpPr>
          <p:cNvPr id="13" name="Right Arrow 12"/>
          <p:cNvSpPr/>
          <p:nvPr/>
        </p:nvSpPr>
        <p:spPr>
          <a:xfrm>
            <a:off x="7955279" y="2084831"/>
            <a:ext cx="160020" cy="274320"/>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47304" y="1481328"/>
            <a:ext cx="1700784" cy="1481328"/>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91440" bIns="73152"/>
          <a:lstStyle/>
          <a:p>
            <a:pPr algn="l">
              <a:spcBef>
                <a:spcPts val="0"/>
              </a:spcBef>
              <a:spcAft>
                <a:spcPts val="300"/>
              </a:spcAft>
            </a:pPr>
            <a:r>
              <a:rPr sz="1050" b="1" i="0">
                <a:solidFill>
                  <a:srgbClr val="3B82F6"/>
                </a:solidFill>
                <a:latin typeface="Calibri"/>
              </a:rPr>
              <a:t>Scrap-risk classifier</a:t>
            </a:r>
          </a:p>
          <a:p>
            <a:pPr algn="l">
              <a:spcBef>
                <a:spcPts val="0"/>
              </a:spcBef>
              <a:spcAft>
                <a:spcPts val="0"/>
              </a:spcAft>
            </a:pPr>
            <a:r>
              <a:rPr sz="860" b="0" i="0">
                <a:solidFill>
                  <a:srgbClr val="F1F5F9"/>
                </a:solidFill>
                <a:latin typeface="Calibri"/>
              </a:rPr>
              <a:t>Isotonic-calibrated probability anchored at ISO 3685 VB = 0.30 mm</a:t>
            </a:r>
          </a:p>
        </p:txBody>
      </p:sp>
      <p:sp>
        <p:nvSpPr>
          <p:cNvPr id="15" name="Right Arrow 14"/>
          <p:cNvSpPr/>
          <p:nvPr/>
        </p:nvSpPr>
        <p:spPr>
          <a:xfrm>
            <a:off x="9880092" y="2084831"/>
            <a:ext cx="160020" cy="274320"/>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072116" y="1481328"/>
            <a:ext cx="1700784" cy="1481328"/>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91440" bIns="73152"/>
          <a:lstStyle/>
          <a:p>
            <a:pPr algn="l">
              <a:spcBef>
                <a:spcPts val="0"/>
              </a:spcBef>
              <a:spcAft>
                <a:spcPts val="300"/>
              </a:spcAft>
            </a:pPr>
            <a:r>
              <a:rPr sz="1050" b="1" i="0">
                <a:solidFill>
                  <a:srgbClr val="3B82F6"/>
                </a:solidFill>
                <a:latin typeface="Calibri"/>
              </a:rPr>
              <a:t>XAI + bulletin</a:t>
            </a:r>
          </a:p>
          <a:p>
            <a:pPr algn="l">
              <a:spcBef>
                <a:spcPts val="0"/>
              </a:spcBef>
              <a:spcAft>
                <a:spcPts val="0"/>
              </a:spcAft>
            </a:pPr>
            <a:r>
              <a:rPr sz="860" b="0" i="0">
                <a:solidFill>
                  <a:srgbClr val="F1F5F9"/>
                </a:solidFill>
                <a:latin typeface="Calibri"/>
              </a:rPr>
              <a:t>SHAP drivers → 3-sentence operator bulletin (GPT-4o / offline fallback)</a:t>
            </a:r>
          </a:p>
        </p:txBody>
      </p:sp>
      <p:sp>
        <p:nvSpPr>
          <p:cNvPr id="17" name="Up Arrow 16"/>
          <p:cNvSpPr/>
          <p:nvPr/>
        </p:nvSpPr>
        <p:spPr>
          <a:xfrm>
            <a:off x="2148840" y="3054096"/>
            <a:ext cx="274320" cy="475488"/>
          </a:xfrm>
          <a:prstGeom prst="up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wn Arrow 17"/>
          <p:cNvSpPr/>
          <p:nvPr/>
        </p:nvSpPr>
        <p:spPr>
          <a:xfrm>
            <a:off x="5989320" y="3054096"/>
            <a:ext cx="274320" cy="475488"/>
          </a:xfrm>
          <a:prstGeom prst="down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own Arrow 18"/>
          <p:cNvSpPr/>
          <p:nvPr/>
        </p:nvSpPr>
        <p:spPr>
          <a:xfrm>
            <a:off x="9829800" y="3054096"/>
            <a:ext cx="274320" cy="475488"/>
          </a:xfrm>
          <a:prstGeom prst="down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2920" y="3611880"/>
            <a:ext cx="3566160" cy="96012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91440" bIns="73152"/>
          <a:lstStyle/>
          <a:p>
            <a:pPr algn="l">
              <a:spcBef>
                <a:spcPts val="0"/>
              </a:spcBef>
              <a:spcAft>
                <a:spcPts val="300"/>
              </a:spcAft>
            </a:pPr>
            <a:r>
              <a:rPr sz="1050" b="1" i="0">
                <a:solidFill>
                  <a:srgbClr val="3B82F6"/>
                </a:solidFill>
                <a:latin typeface="Calibri"/>
              </a:rPr>
              <a:t>Offline batch training (train_pipeline.py)</a:t>
            </a:r>
          </a:p>
          <a:p>
            <a:pPr algn="l">
              <a:spcBef>
                <a:spcPts val="0"/>
              </a:spcBef>
              <a:spcAft>
                <a:spcPts val="0"/>
              </a:spcAft>
            </a:pPr>
            <a:r>
              <a:rPr sz="880" b="0" i="0">
                <a:solidFill>
                  <a:srgbClr val="F1F5F9"/>
                </a:solidFill>
                <a:latin typeface="Calibri"/>
              </a:rPr>
              <a:t>Three-way split grouped by tool run — no tool's telemetry leaks across train / calibration / test; persists joblib artifacts.</a:t>
            </a:r>
          </a:p>
        </p:txBody>
      </p:sp>
      <p:sp>
        <p:nvSpPr>
          <p:cNvPr id="21" name="Rounded Rectangle 20"/>
          <p:cNvSpPr/>
          <p:nvPr/>
        </p:nvSpPr>
        <p:spPr>
          <a:xfrm>
            <a:off x="4343400" y="3611880"/>
            <a:ext cx="3566160" cy="96012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91440" bIns="73152"/>
          <a:lstStyle/>
          <a:p>
            <a:pPr algn="l">
              <a:spcBef>
                <a:spcPts val="0"/>
              </a:spcBef>
              <a:spcAft>
                <a:spcPts val="300"/>
              </a:spcAft>
            </a:pPr>
            <a:r>
              <a:rPr sz="1050" b="1" i="0">
                <a:solidFill>
                  <a:srgbClr val="10B981"/>
                </a:solidFill>
                <a:latin typeface="Calibri"/>
              </a:rPr>
              <a:t>Streamlit console — four tabs</a:t>
            </a:r>
          </a:p>
          <a:p>
            <a:pPr algn="l">
              <a:spcBef>
                <a:spcPts val="0"/>
              </a:spcBef>
              <a:spcAft>
                <a:spcPts val="0"/>
              </a:spcAft>
            </a:pPr>
            <a:r>
              <a:rPr sz="880" b="0" i="0">
                <a:solidFill>
                  <a:srgbClr val="F1F5F9"/>
                </a:solidFill>
                <a:latin typeface="Calibri"/>
              </a:rPr>
              <a:t>Live Operations &amp; Diagnostics · Mathematical Derivations · CNC Knowledge Base · Maintenance Logs &amp; PDF export.</a:t>
            </a:r>
          </a:p>
        </p:txBody>
      </p:sp>
      <p:sp>
        <p:nvSpPr>
          <p:cNvPr id="22" name="Right Arrow 21"/>
          <p:cNvSpPr/>
          <p:nvPr/>
        </p:nvSpPr>
        <p:spPr>
          <a:xfrm>
            <a:off x="7936992" y="3968496"/>
            <a:ext cx="219456" cy="237744"/>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183879" y="3611880"/>
            <a:ext cx="3547872" cy="96012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91440" bIns="73152"/>
          <a:lstStyle/>
          <a:p>
            <a:pPr algn="l">
              <a:spcBef>
                <a:spcPts val="0"/>
              </a:spcBef>
              <a:spcAft>
                <a:spcPts val="300"/>
              </a:spcAft>
            </a:pPr>
            <a:r>
              <a:rPr sz="1050" b="1" i="0">
                <a:solidFill>
                  <a:srgbClr val="F59E0B"/>
                </a:solidFill>
                <a:latin typeface="Calibri"/>
              </a:rPr>
              <a:t>Persistence &amp; export</a:t>
            </a:r>
          </a:p>
          <a:p>
            <a:pPr algn="l">
              <a:spcBef>
                <a:spcPts val="0"/>
              </a:spcBef>
              <a:spcAft>
                <a:spcPts val="0"/>
              </a:spcAft>
            </a:pPr>
            <a:r>
              <a:rPr sz="880" b="0" i="0">
                <a:solidFill>
                  <a:srgbClr val="F1F5F9"/>
                </a:solidFill>
                <a:latin typeface="Calibri"/>
              </a:rPr>
              <a:t>SQLite work-order logs survive session resets; CSV export and PDF maintenance work-order dispatch tickets.</a:t>
            </a:r>
          </a:p>
        </p:txBody>
      </p:sp>
      <p:sp>
        <p:nvSpPr>
          <p:cNvPr id="24" name="Rounded Rectangle 23"/>
          <p:cNvSpPr/>
          <p:nvPr/>
        </p:nvSpPr>
        <p:spPr>
          <a:xfrm>
            <a:off x="502920" y="4846320"/>
            <a:ext cx="11228832" cy="868680"/>
          </a:xfrm>
          <a:prstGeom prst="roundRect">
            <a:avLst/>
          </a:prstGeom>
          <a:solidFill>
            <a:srgbClr val="16202F"/>
          </a:solidFill>
          <a:ln w="127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91440" bIns="73152"/>
          <a:lstStyle/>
          <a:p>
            <a:pPr algn="l">
              <a:spcBef>
                <a:spcPts val="0"/>
              </a:spcBef>
              <a:spcAft>
                <a:spcPts val="300"/>
              </a:spcAft>
            </a:pPr>
            <a:r>
              <a:rPr sz="1050" b="1" i="0">
                <a:solidFill>
                  <a:srgbClr val="3B82F6"/>
                </a:solidFill>
                <a:latin typeface="Calibri"/>
              </a:rPr>
              <a:t>SAFETY GUARDRAIL — DECISION SUPPORT ONLY</a:t>
            </a:r>
          </a:p>
          <a:p>
            <a:pPr algn="l">
              <a:spcBef>
                <a:spcPts val="0"/>
              </a:spcBef>
              <a:spcAft>
                <a:spcPts val="0"/>
              </a:spcAft>
            </a:pPr>
            <a:r>
              <a:rPr sz="1000" b="0" i="0">
                <a:solidFill>
                  <a:srgbClr val="F1F5F9"/>
                </a:solidFill>
                <a:latin typeface="Calibri"/>
              </a:rPr>
              <a:t>No PLC / CNC write path exists anywhere in the codebase. The LLM system prompt forbids implying autonomous action; a wide uncertainty band forces a “recommend manual visual inspection” bulletin. Every output carries quantified uncertainty; every decision remains human.</a:t>
            </a:r>
          </a:p>
        </p:txBody>
      </p:sp>
      <p:sp>
        <p:nvSpPr>
          <p:cNvPr id="25" name="TextBox 24"/>
          <p:cNvSpPr txBox="1"/>
          <p:nvPr/>
        </p:nvSpPr>
        <p:spPr>
          <a:xfrm>
            <a:off x="502920" y="5897880"/>
            <a:ext cx="11201400" cy="457200"/>
          </a:xfrm>
          <a:prstGeom prst="rect">
            <a:avLst/>
          </a:prstGeom>
          <a:noFill/>
        </p:spPr>
        <p:txBody>
          <a:bodyPr wrap="square" lIns="0" rIns="0" tIns="0" bIns="0">
            <a:spAutoFit/>
          </a:bodyPr>
          <a:lstStyle/>
          <a:p>
            <a:pPr algn="l">
              <a:spcBef>
                <a:spcPts val="0"/>
              </a:spcBef>
              <a:spcAft>
                <a:spcPts val="500"/>
              </a:spcAft>
            </a:pPr>
            <a:r>
              <a:rPr sz="950" b="0" i="0">
                <a:solidFill>
                  <a:srgbClr val="94A3B8"/>
                </a:solidFill>
                <a:latin typeface="Calibri"/>
              </a:rPr>
              <a:t>Deployment: Streamlit cloud console (what-if mode) with an offline CLI training pipeline — standard train/serve separation. Edge deployment is roadmap, not current scope.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02920" y="292608"/>
            <a:ext cx="10058400" cy="1051560"/>
          </a:xfrm>
          <a:prstGeom prst="rect">
            <a:avLst/>
          </a:prstGeom>
          <a:noFill/>
        </p:spPr>
        <p:txBody>
          <a:bodyPr wrap="square" lIns="0" rIns="0" tIns="0" bIns="0">
            <a:spAutoFit/>
          </a:bodyPr>
          <a:lstStyle/>
          <a:p>
            <a:pPr algn="l">
              <a:spcBef>
                <a:spcPts val="0"/>
              </a:spcBef>
              <a:spcAft>
                <a:spcPts val="300"/>
              </a:spcAft>
            </a:pPr>
            <a:r>
              <a:rPr sz="1000" b="1" i="0">
                <a:solidFill>
                  <a:srgbClr val="3B82F6"/>
                </a:solidFill>
                <a:latin typeface="Calibri"/>
              </a:rPr>
              <a:t>SECTION 3 — METHOD</a:t>
            </a:r>
          </a:p>
          <a:p>
            <a:pPr algn="l">
              <a:spcBef>
                <a:spcPts val="0"/>
              </a:spcBef>
              <a:spcAft>
                <a:spcPts val="0"/>
              </a:spcAft>
            </a:pPr>
            <a:r>
              <a:rPr sz="2600" b="1" i="0">
                <a:solidFill>
                  <a:srgbClr val="F1F5F9"/>
                </a:solidFill>
                <a:latin typeface="Calibri"/>
              </a:rPr>
              <a:t>Physics Layer &amp; Three-Stage Wear Model</a:t>
            </a:r>
          </a:p>
        </p:txBody>
      </p:sp>
      <p:sp>
        <p:nvSpPr>
          <p:cNvPr id="3" name="Rectangle 2"/>
          <p:cNvSpPr/>
          <p:nvPr/>
        </p:nvSpPr>
        <p:spPr>
          <a:xfrm>
            <a:off x="521207" y="1170432"/>
            <a:ext cx="1920240" cy="2794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73952"/>
            <a:ext cx="8686800" cy="292608"/>
          </a:xfrm>
          <a:prstGeom prst="rect">
            <a:avLst/>
          </a:prstGeom>
          <a:noFill/>
        </p:spPr>
        <p:txBody>
          <a:bodyPr wrap="square" lIns="0" rIns="0" tIns="0" bIns="0">
            <a:spAutoFit/>
          </a:bodyPr>
          <a:lstStyle/>
          <a:p>
            <a:pPr algn="l">
              <a:spcBef>
                <a:spcPts val="0"/>
              </a:spcBef>
              <a:spcAft>
                <a:spcPts val="0"/>
              </a:spcAft>
            </a:pPr>
            <a:r>
              <a:rPr sz="850" b="0" i="0">
                <a:solidFill>
                  <a:srgbClr val="94A3B8"/>
                </a:solidFill>
                <a:latin typeface="Calibri"/>
              </a:rPr>
              <a:t>CNC Tool Wear Prediction And Scrap Risk Signal  ·  academic project  ·  Oct 2026</a:t>
            </a:r>
          </a:p>
        </p:txBody>
      </p:sp>
      <p:sp>
        <p:nvSpPr>
          <p:cNvPr id="5" name="TextBox 4"/>
          <p:cNvSpPr txBox="1"/>
          <p:nvPr/>
        </p:nvSpPr>
        <p:spPr>
          <a:xfrm>
            <a:off x="10972800" y="6473952"/>
            <a:ext cx="777240" cy="292608"/>
          </a:xfrm>
          <a:prstGeom prst="rect">
            <a:avLst/>
          </a:prstGeom>
          <a:noFill/>
        </p:spPr>
        <p:txBody>
          <a:bodyPr wrap="square" lIns="0" rIns="0" tIns="0" bIns="0">
            <a:spAutoFit/>
          </a:bodyPr>
          <a:lstStyle/>
          <a:p>
            <a:pPr algn="r">
              <a:spcBef>
                <a:spcPts val="0"/>
              </a:spcBef>
              <a:spcAft>
                <a:spcPts val="0"/>
              </a:spcAft>
            </a:pPr>
            <a:r>
              <a:rPr sz="850" b="0" i="0">
                <a:solidFill>
                  <a:srgbClr val="94A3B8"/>
                </a:solidFill>
                <a:latin typeface="Calibri"/>
              </a:rPr>
              <a:t>5 / 10</a:t>
            </a:r>
          </a:p>
        </p:txBody>
      </p:sp>
      <p:sp>
        <p:nvSpPr>
          <p:cNvPr id="6" name="Rounded Rectangle 5"/>
          <p:cNvSpPr/>
          <p:nvPr/>
        </p:nvSpPr>
        <p:spPr>
          <a:xfrm>
            <a:off x="502920" y="1463040"/>
            <a:ext cx="5623560" cy="320040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91440" bIns="73152"/>
          <a:lstStyle/>
          <a:p>
            <a:pPr algn="l">
              <a:spcBef>
                <a:spcPts val="0"/>
              </a:spcBef>
              <a:spcAft>
                <a:spcPts val="600"/>
              </a:spcAft>
            </a:pPr>
            <a:r>
              <a:rPr sz="1050" b="1" i="0">
                <a:solidFill>
                  <a:srgbClr val="3B82F6"/>
                </a:solidFill>
                <a:latin typeface="Calibri"/>
              </a:rPr>
              <a:t>FIRST-PRINCIPLES EQUATIONS (live-substituted in the app)</a:t>
            </a:r>
          </a:p>
          <a:p>
            <a:pPr algn="l">
              <a:spcBef>
                <a:spcPts val="0"/>
              </a:spcBef>
              <a:spcAft>
                <a:spcPts val="500"/>
              </a:spcAft>
            </a:pPr>
            <a:r>
              <a:rPr sz="1050">
                <a:solidFill>
                  <a:srgbClr val="F1F5F9"/>
                </a:solidFill>
                <a:latin typeface="Consolas"/>
              </a:rPr>
              <a:t>Vc = π · D · N / 1000   [m/min]</a:t>
            </a:r>
          </a:p>
          <a:p>
            <a:pPr algn="l">
              <a:spcBef>
                <a:spcPts val="0"/>
              </a:spcBef>
              <a:spcAft>
                <a:spcPts val="500"/>
              </a:spcAft>
            </a:pPr>
            <a:r>
              <a:rPr sz="1050">
                <a:solidFill>
                  <a:srgbClr val="F1F5F9"/>
                </a:solidFill>
                <a:latin typeface="Consolas"/>
              </a:rPr>
              <a:t>T = C·C_coolant·C_coating / ( v^(1/n) · f^(1/m) · d^(1/p) )   — extended Taylor tool life</a:t>
            </a:r>
          </a:p>
          <a:p>
            <a:pPr algn="l">
              <a:spcBef>
                <a:spcPts val="0"/>
              </a:spcBef>
              <a:spcAft>
                <a:spcPts val="500"/>
              </a:spcAft>
            </a:pPr>
            <a:r>
              <a:rPr sz="1050">
                <a:solidFill>
                  <a:srgbClr val="F1F5F9"/>
                </a:solidFill>
                <a:latin typeface="Consolas"/>
              </a:rPr>
              <a:t>MRR = ap · ae · vf / 1000  (× N_spindles)   [cm³/min]</a:t>
            </a:r>
          </a:p>
          <a:p>
            <a:pPr algn="l">
              <a:spcBef>
                <a:spcPts val="0"/>
              </a:spcBef>
              <a:spcAft>
                <a:spcPts val="500"/>
              </a:spcAft>
            </a:pPr>
            <a:r>
              <a:rPr sz="1050">
                <a:solidFill>
                  <a:srgbClr val="F1F5F9"/>
                </a:solidFill>
                <a:latin typeface="Consolas"/>
              </a:rPr>
              <a:t>Ra ≈ f² / (32 · rε) × 1000   [µm]      E_cum = Σ MRR·k_specific·Δt</a:t>
            </a:r>
          </a:p>
          <a:p>
            <a:pPr algn="l">
              <a:spcBef>
                <a:spcPts val="0"/>
              </a:spcBef>
              <a:spcAft>
                <a:spcPts val="500"/>
              </a:spcAft>
            </a:pPr>
            <a:r>
              <a:rPr sz="1050">
                <a:solidFill>
                  <a:srgbClr val="F1F5F9"/>
                </a:solidFill>
                <a:latin typeface="Consolas"/>
              </a:rPr>
              <a:t>P_cut = k_specific · MRR / 60   [kW]      Load% = P_cut / (P_rated·η)</a:t>
            </a:r>
          </a:p>
          <a:p>
            <a:pPr algn="l">
              <a:spcBef>
                <a:spcPts val="0"/>
              </a:spcBef>
              <a:spcAft>
                <a:spcPts val="0"/>
              </a:spcAft>
            </a:pPr>
            <a:r>
              <a:rPr sz="900" b="0" i="0">
                <a:solidFill>
                  <a:srgbClr val="94A3B8"/>
                </a:solidFill>
                <a:latin typeface="Calibri"/>
              </a:rPr>
              <a:t>n ∈ [0.20, 0.50], m ∈ [0.15, 0.30], p ∈ [0.10, 0.15] per material; clipped to the calibrated envelope with an explicit extrapolation flag.</a:t>
            </a:r>
          </a:p>
        </p:txBody>
      </p:sp>
      <p:sp>
        <p:nvSpPr>
          <p:cNvPr id="7" name="Rounded Rectangle 6"/>
          <p:cNvSpPr/>
          <p:nvPr/>
        </p:nvSpPr>
        <p:spPr>
          <a:xfrm>
            <a:off x="502920" y="4828032"/>
            <a:ext cx="5623560" cy="1481328"/>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91440" bIns="73152"/>
          <a:lstStyle/>
          <a:p>
            <a:pPr algn="l">
              <a:spcBef>
                <a:spcPts val="0"/>
              </a:spcBef>
              <a:spcAft>
                <a:spcPts val="500"/>
              </a:spcAft>
            </a:pPr>
            <a:r>
              <a:rPr sz="1050" b="1" i="0">
                <a:solidFill>
                  <a:srgbClr val="10B981"/>
                </a:solidFill>
                <a:latin typeface="Calibri"/>
              </a:rPr>
              <a:t>THREE-STAGE WEAR PROGRESSION (simulated ground truth)</a:t>
            </a:r>
          </a:p>
          <a:p>
            <a:pPr algn="l">
              <a:spcBef>
                <a:spcPts val="0"/>
              </a:spcBef>
              <a:spcAft>
                <a:spcPts val="400"/>
              </a:spcAft>
            </a:pPr>
            <a:r>
              <a:rPr sz="1000">
                <a:solidFill>
                  <a:srgbClr val="F1F5F9"/>
                </a:solidFill>
                <a:latin typeface="Consolas"/>
              </a:rPr>
              <a:t>VB(t) = 0.045·(1−e^(−t/6))  +  0.22·(t/T)·κ  +  3.2·max(0, t/T−0.78)³  +  instability  +  ε</a:t>
            </a:r>
          </a:p>
          <a:p>
            <a:pPr algn="l">
              <a:spcBef>
                <a:spcPts val="0"/>
              </a:spcBef>
              <a:spcAft>
                <a:spcPts val="0"/>
              </a:spcAft>
            </a:pPr>
            <a:r>
              <a:rPr sz="900" b="0" i="0">
                <a:solidFill>
                  <a:srgbClr val="94A3B8"/>
                </a:solidFill>
                <a:latin typeface="Calibri"/>
              </a:rPr>
              <a:t>break-in / steady-state / catastrophic — the canonical curve shape validated in [P2 §III.C]; break-in ceiling 0.045 mm sits within 10 % of [P2]'s 0.05 mm Initial-stage boundary.</a:t>
            </a:r>
          </a:p>
        </p:txBody>
      </p:sp>
      <p:pic>
        <p:nvPicPr>
          <p:cNvPr id="8" name="Picture 7" descr="chart_wear_curve.png"/>
          <p:cNvPicPr>
            <a:picLocks noChangeAspect="1"/>
          </p:cNvPicPr>
          <p:nvPr/>
        </p:nvPicPr>
        <p:blipFill>
          <a:blip r:embed="rId2"/>
          <a:srcRect l="3644" r="3644"/>
          <a:stretch>
            <a:fillRect/>
          </a:stretch>
        </p:blipFill>
        <p:spPr>
          <a:xfrm>
            <a:off x="6355080" y="1463040"/>
            <a:ext cx="5349240" cy="3200400"/>
          </a:xfrm>
          <a:prstGeom prst="rect">
            <a:avLst/>
          </a:prstGeom>
        </p:spPr>
      </p:pic>
      <p:sp>
        <p:nvSpPr>
          <p:cNvPr id="9" name="Rounded Rectangle 8"/>
          <p:cNvSpPr/>
          <p:nvPr/>
        </p:nvSpPr>
        <p:spPr>
          <a:xfrm>
            <a:off x="6355080" y="4828032"/>
            <a:ext cx="5349240" cy="1481328"/>
          </a:xfrm>
          <a:prstGeom prst="roundRect">
            <a:avLst/>
          </a:prstGeom>
          <a:solidFill>
            <a:srgbClr val="16202F"/>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91440" bIns="73152"/>
          <a:lstStyle/>
          <a:p>
            <a:pPr algn="l">
              <a:spcBef>
                <a:spcPts val="0"/>
              </a:spcBef>
              <a:spcAft>
                <a:spcPts val="400"/>
              </a:spcAft>
            </a:pPr>
            <a:r>
              <a:rPr sz="1000" b="1" i="0">
                <a:solidFill>
                  <a:srgbClr val="F59E0B"/>
                </a:solidFill>
                <a:latin typeface="Calibri"/>
              </a:rPr>
              <a:t>MATERIAL &amp; TOOLING COVERAGE — A SUPERSET OF [P3]'s CORPUS</a:t>
            </a:r>
          </a:p>
          <a:p>
            <a:pPr algn="l">
              <a:spcBef>
                <a:spcPts val="0"/>
              </a:spcBef>
              <a:spcAft>
                <a:spcPts val="0"/>
              </a:spcAft>
            </a:pPr>
            <a:r>
              <a:rPr sz="930" b="0" i="0">
                <a:solidFill>
                  <a:srgbClr val="F1F5F9"/>
                </a:solidFill>
                <a:latin typeface="Calibri"/>
              </a:rPr>
              <a:t>11 profiles: Al 6061/7075-T6, AISI 1045 (C45), 4140/42CrMo4, D2, 304, 316L, 17-4 PH, Ti-6Al-4V, Inconel 718, gray cast iron FG 15/CGI 450 · coatings: uncoated carbide, TiAlN, AlTiN, PCD, ceramic, CBN · coolant: dry / MQL / flood / HPC · PCD-on-ferrous hard-blocked (carbon diffusion / TiC graphitisation).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02920" y="292608"/>
            <a:ext cx="10058400" cy="1051560"/>
          </a:xfrm>
          <a:prstGeom prst="rect">
            <a:avLst/>
          </a:prstGeom>
          <a:noFill/>
        </p:spPr>
        <p:txBody>
          <a:bodyPr wrap="square" lIns="0" rIns="0" tIns="0" bIns="0">
            <a:spAutoFit/>
          </a:bodyPr>
          <a:lstStyle/>
          <a:p>
            <a:pPr algn="l">
              <a:spcBef>
                <a:spcPts val="0"/>
              </a:spcBef>
              <a:spcAft>
                <a:spcPts val="300"/>
              </a:spcAft>
            </a:pPr>
            <a:r>
              <a:rPr sz="1000" b="1" i="0">
                <a:solidFill>
                  <a:srgbClr val="3B82F6"/>
                </a:solidFill>
                <a:latin typeface="Calibri"/>
              </a:rPr>
              <a:t>SECTION 3 — METHOD</a:t>
            </a:r>
          </a:p>
          <a:p>
            <a:pPr algn="l">
              <a:spcBef>
                <a:spcPts val="0"/>
              </a:spcBef>
              <a:spcAft>
                <a:spcPts val="0"/>
              </a:spcAft>
            </a:pPr>
            <a:r>
              <a:rPr sz="2600" b="1" i="0">
                <a:solidFill>
                  <a:srgbClr val="F1F5F9"/>
                </a:solidFill>
                <a:latin typeface="Calibri"/>
              </a:rPr>
              <a:t>Machine-Learning Core &amp; Calibrated Uncertainty</a:t>
            </a:r>
          </a:p>
        </p:txBody>
      </p:sp>
      <p:sp>
        <p:nvSpPr>
          <p:cNvPr id="3" name="Rectangle 2"/>
          <p:cNvSpPr/>
          <p:nvPr/>
        </p:nvSpPr>
        <p:spPr>
          <a:xfrm>
            <a:off x="521207" y="1170432"/>
            <a:ext cx="1920240" cy="2794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73952"/>
            <a:ext cx="8686800" cy="292608"/>
          </a:xfrm>
          <a:prstGeom prst="rect">
            <a:avLst/>
          </a:prstGeom>
          <a:noFill/>
        </p:spPr>
        <p:txBody>
          <a:bodyPr wrap="square" lIns="0" rIns="0" tIns="0" bIns="0">
            <a:spAutoFit/>
          </a:bodyPr>
          <a:lstStyle/>
          <a:p>
            <a:pPr algn="l">
              <a:spcBef>
                <a:spcPts val="0"/>
              </a:spcBef>
              <a:spcAft>
                <a:spcPts val="0"/>
              </a:spcAft>
            </a:pPr>
            <a:r>
              <a:rPr sz="850" b="0" i="0">
                <a:solidFill>
                  <a:srgbClr val="94A3B8"/>
                </a:solidFill>
                <a:latin typeface="Calibri"/>
              </a:rPr>
              <a:t>CNC Tool Wear Prediction And Scrap Risk Signal  ·  academic project  ·  Oct 2026</a:t>
            </a:r>
          </a:p>
        </p:txBody>
      </p:sp>
      <p:sp>
        <p:nvSpPr>
          <p:cNvPr id="5" name="TextBox 4"/>
          <p:cNvSpPr txBox="1"/>
          <p:nvPr/>
        </p:nvSpPr>
        <p:spPr>
          <a:xfrm>
            <a:off x="10972800" y="6473952"/>
            <a:ext cx="777240" cy="292608"/>
          </a:xfrm>
          <a:prstGeom prst="rect">
            <a:avLst/>
          </a:prstGeom>
          <a:noFill/>
        </p:spPr>
        <p:txBody>
          <a:bodyPr wrap="square" lIns="0" rIns="0" tIns="0" bIns="0">
            <a:spAutoFit/>
          </a:bodyPr>
          <a:lstStyle/>
          <a:p>
            <a:pPr algn="r">
              <a:spcBef>
                <a:spcPts val="0"/>
              </a:spcBef>
              <a:spcAft>
                <a:spcPts val="0"/>
              </a:spcAft>
            </a:pPr>
            <a:r>
              <a:rPr sz="850" b="0" i="0">
                <a:solidFill>
                  <a:srgbClr val="94A3B8"/>
                </a:solidFill>
                <a:latin typeface="Calibri"/>
              </a:rPr>
              <a:t>6 / 10</a:t>
            </a:r>
          </a:p>
        </p:txBody>
      </p:sp>
      <p:sp>
        <p:nvSpPr>
          <p:cNvPr id="6" name="TextBox 5"/>
          <p:cNvSpPr txBox="1"/>
          <p:nvPr/>
        </p:nvSpPr>
        <p:spPr>
          <a:xfrm>
            <a:off x="502920" y="1463040"/>
            <a:ext cx="5989320" cy="4206240"/>
          </a:xfrm>
          <a:prstGeom prst="rect">
            <a:avLst/>
          </a:prstGeom>
          <a:noFill/>
        </p:spPr>
        <p:txBody>
          <a:bodyPr wrap="square" lIns="0" rIns="0" tIns="0" bIns="0">
            <a:spAutoFit/>
          </a:bodyPr>
          <a:lstStyle/>
          <a:p>
            <a:pPr algn="l">
              <a:spcBef>
                <a:spcPts val="0"/>
              </a:spcBef>
              <a:spcAft>
                <a:spcPts val="600"/>
              </a:spcAft>
            </a:pPr>
            <a:r>
              <a:rPr sz="1250" b="1">
                <a:solidFill>
                  <a:srgbClr val="3B82F6"/>
                </a:solidFill>
                <a:latin typeface="Calibri"/>
              </a:rPr>
              <a:t>▸  </a:t>
            </a:r>
            <a:r>
              <a:rPr sz="1250" b="1">
                <a:solidFill>
                  <a:srgbClr val="F1F5F9"/>
                </a:solidFill>
                <a:latin typeface="Calibri"/>
              </a:rPr>
              <a:t>Q10 / Q50 / Q90:  </a:t>
            </a:r>
            <a:r>
              <a:rPr sz="1250">
                <a:solidFill>
                  <a:srgbClr val="F1F5F9"/>
                </a:solidFill>
                <a:latin typeface="Calibri"/>
              </a:rPr>
              <a:t>gradient-boosted quantile regressors (XGBoost / LightGBM) trained on the pinball loss at τ = 0.10 / 0.50 / 0.90 — the band, not a point, is the product.</a:t>
            </a:r>
          </a:p>
          <a:p>
            <a:pPr algn="l">
              <a:spcBef>
                <a:spcPts val="0"/>
              </a:spcBef>
              <a:spcAft>
                <a:spcPts val="600"/>
              </a:spcAft>
            </a:pPr>
            <a:r>
              <a:rPr sz="1250" b="1">
                <a:solidFill>
                  <a:srgbClr val="3B82F6"/>
                </a:solidFill>
                <a:latin typeface="Calibri"/>
              </a:rPr>
              <a:t>▸  </a:t>
            </a:r>
            <a:r>
              <a:rPr sz="1250" b="1">
                <a:solidFill>
                  <a:srgbClr val="F1F5F9"/>
                </a:solidFill>
                <a:latin typeface="Calibri"/>
              </a:rPr>
              <a:t>Conformal guarantee:  </a:t>
            </a:r>
            <a:r>
              <a:rPr sz="1250">
                <a:solidFill>
                  <a:srgbClr val="F1F5F9"/>
                </a:solidFill>
                <a:latin typeface="Calibri"/>
              </a:rPr>
              <a:t>Romano–Patterson–Candès split-conformal calibration gives a finite-sample, distribution-free 80 % marginal coverage guarantee on the Q10–Q90 band.</a:t>
            </a:r>
          </a:p>
          <a:p>
            <a:pPr algn="l">
              <a:spcBef>
                <a:spcPts val="0"/>
              </a:spcBef>
              <a:spcAft>
                <a:spcPts val="600"/>
              </a:spcAft>
            </a:pPr>
            <a:r>
              <a:rPr sz="1250" b="1">
                <a:solidFill>
                  <a:srgbClr val="3B82F6"/>
                </a:solidFill>
                <a:latin typeface="Calibri"/>
              </a:rPr>
              <a:t>▸  </a:t>
            </a:r>
            <a:r>
              <a:rPr sz="1250" b="1">
                <a:solidFill>
                  <a:srgbClr val="F1F5F9"/>
                </a:solidFill>
                <a:latin typeface="Calibri"/>
              </a:rPr>
              <a:t>Calibrated probability:  </a:t>
            </a:r>
            <a:r>
              <a:rPr sz="1250">
                <a:solidFill>
                  <a:srgbClr val="F1F5F9"/>
                </a:solidFill>
                <a:latin typeface="Calibri"/>
              </a:rPr>
              <a:t>the scrap classifier is wrapped in isotonic CalibratedClassifierCV so “0.7” genuinely means ≈70 % of similar validated runs scrapped — a number an operator reads as a probability.</a:t>
            </a:r>
          </a:p>
          <a:p>
            <a:pPr algn="l">
              <a:spcBef>
                <a:spcPts val="0"/>
              </a:spcBef>
              <a:spcAft>
                <a:spcPts val="600"/>
              </a:spcAft>
            </a:pPr>
            <a:r>
              <a:rPr sz="1250" b="1">
                <a:solidFill>
                  <a:srgbClr val="3B82F6"/>
                </a:solidFill>
                <a:latin typeface="Calibri"/>
              </a:rPr>
              <a:t>▸  </a:t>
            </a:r>
            <a:r>
              <a:rPr sz="1250" b="1">
                <a:solidFill>
                  <a:srgbClr val="F1F5F9"/>
                </a:solidFill>
                <a:latin typeface="Calibri"/>
              </a:rPr>
              <a:t>Explainability:  </a:t>
            </a:r>
            <a:r>
              <a:rPr sz="1250">
                <a:solidFill>
                  <a:srgbClr val="F1F5F9"/>
                </a:solidFill>
                <a:latin typeface="Calibri"/>
              </a:rPr>
              <a:t>local SHAP attributions for both models (averaged across every calibration fold), fed verbatim into the bulletin payload — the LLM may never invent a driver.</a:t>
            </a:r>
          </a:p>
          <a:p>
            <a:pPr algn="l">
              <a:spcBef>
                <a:spcPts val="0"/>
              </a:spcBef>
              <a:spcAft>
                <a:spcPts val="600"/>
              </a:spcAft>
            </a:pPr>
            <a:r>
              <a:rPr sz="1250" b="1">
                <a:solidFill>
                  <a:srgbClr val="10B981"/>
                </a:solidFill>
                <a:latin typeface="Calibri"/>
              </a:rPr>
              <a:t>▸  </a:t>
            </a:r>
            <a:r>
              <a:rPr sz="1250" b="1">
                <a:solidFill>
                  <a:srgbClr val="F1F5F9"/>
                </a:solidFill>
                <a:latin typeface="Calibri"/>
              </a:rPr>
              <a:t>Leakage control:  </a:t>
            </a:r>
            <a:r>
              <a:rPr sz="1250">
                <a:solidFill>
                  <a:srgbClr val="F1F5F9"/>
                </a:solidFill>
                <a:latin typeface="Calibri"/>
              </a:rPr>
              <a:t>train / calibration / test split by run_id, never by row — no tool's samples leak. Stricter than [P2]'s plain 7:3 / 8:2 split.</a:t>
            </a:r>
          </a:p>
          <a:p>
            <a:pPr algn="l">
              <a:spcBef>
                <a:spcPts val="0"/>
              </a:spcBef>
              <a:spcAft>
                <a:spcPts val="600"/>
              </a:spcAft>
            </a:pPr>
            <a:r>
              <a:rPr sz="1250" b="1">
                <a:solidFill>
                  <a:srgbClr val="3B82F6"/>
                </a:solidFill>
                <a:latin typeface="Calibri"/>
              </a:rPr>
              <a:t>▸  </a:t>
            </a:r>
            <a:r>
              <a:rPr sz="1250" b="1">
                <a:solidFill>
                  <a:srgbClr val="F1F5F9"/>
                </a:solidFill>
                <a:latin typeface="Calibri"/>
              </a:rPr>
              <a:t>Model tiers:  </a:t>
            </a:r>
            <a:r>
              <a:rPr sz="1250">
                <a:solidFill>
                  <a:srgbClr val="F1F5F9"/>
                </a:solidFill>
                <a:latin typeface="Calibri"/>
              </a:rPr>
              <a:t>two tiers: 0.38 s fast-boot fit on first load; opt-in full-precision fit (14.3 s) for the tighter band.</a:t>
            </a:r>
          </a:p>
          <a:p>
            <a:pPr algn="l">
              <a:spcBef>
                <a:spcPts val="0"/>
              </a:spcBef>
              <a:spcAft>
                <a:spcPts val="600"/>
              </a:spcAft>
            </a:pPr>
            <a:r>
              <a:rPr sz="1250" b="1">
                <a:solidFill>
                  <a:srgbClr val="3B82F6"/>
                </a:solidFill>
                <a:latin typeface="Calibri"/>
              </a:rPr>
              <a:t>▸  </a:t>
            </a:r>
            <a:r>
              <a:rPr sz="1250" b="1">
                <a:solidFill>
                  <a:srgbClr val="F1F5F9"/>
                </a:solidFill>
                <a:latin typeface="Calibri"/>
              </a:rPr>
              <a:t>Resilience:  </a:t>
            </a:r>
            <a:r>
              <a:rPr sz="1250">
                <a:solidFill>
                  <a:srgbClr val="F1F5F9"/>
                </a:solidFill>
                <a:latin typeface="Calibri"/>
              </a:rPr>
              <a:t>deterministic offline bulletin generator mirrors the GPT-4o contract — narration is never a single point of failure.</a:t>
            </a:r>
          </a:p>
        </p:txBody>
      </p:sp>
      <p:pic>
        <p:nvPicPr>
          <p:cNvPr id="7" name="Picture 6" descr="chart_coverage.png"/>
          <p:cNvPicPr>
            <a:picLocks noChangeAspect="1"/>
          </p:cNvPicPr>
          <p:nvPr/>
        </p:nvPicPr>
        <p:blipFill>
          <a:blip r:embed="rId2"/>
          <a:srcRect t="48" b="48"/>
          <a:stretch>
            <a:fillRect/>
          </a:stretch>
        </p:blipFill>
        <p:spPr>
          <a:xfrm>
            <a:off x="6720840" y="1554480"/>
            <a:ext cx="4983480" cy="2926080"/>
          </a:xfrm>
          <a:prstGeom prst="rect">
            <a:avLst/>
          </a:prstGeom>
        </p:spPr>
      </p:pic>
      <p:sp>
        <p:nvSpPr>
          <p:cNvPr id="8" name="Rounded Rectangle 7"/>
          <p:cNvSpPr/>
          <p:nvPr/>
        </p:nvSpPr>
        <p:spPr>
          <a:xfrm>
            <a:off x="6720840" y="4663440"/>
            <a:ext cx="4983480" cy="1645920"/>
          </a:xfrm>
          <a:prstGeom prst="roundRect">
            <a:avLst/>
          </a:prstGeom>
          <a:solidFill>
            <a:srgbClr val="16202F"/>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91440" bIns="73152"/>
          <a:lstStyle/>
          <a:p>
            <a:pPr algn="l">
              <a:spcBef>
                <a:spcPts val="0"/>
              </a:spcBef>
              <a:spcAft>
                <a:spcPts val="400"/>
              </a:spcAft>
            </a:pPr>
            <a:r>
              <a:rPr sz="1000" b="1" i="0">
                <a:solidFill>
                  <a:srgbClr val="3B82F6"/>
                </a:solidFill>
                <a:latin typeface="Calibri"/>
              </a:rPr>
              <a:t>WHY UNCERTAINTY IS THE POINT</a:t>
            </a:r>
          </a:p>
          <a:p>
            <a:pPr algn="l">
              <a:spcBef>
                <a:spcPts val="0"/>
              </a:spcBef>
              <a:spcAft>
                <a:spcPts val="0"/>
              </a:spcAft>
            </a:pPr>
            <a:r>
              <a:rPr sz="930" b="0" i="0">
                <a:solidFill>
                  <a:srgbClr val="F1F5F9"/>
                </a:solidFill>
                <a:latin typeface="Calibri"/>
              </a:rPr>
              <a:t>[P3 §5] names noisy industrial data and small training sets as the field's central obstacle. A guaranteed coverage interval answers that directly: when the band is wide the system says so and recommends manual inspection instead of asserting false precision.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02920" y="292608"/>
            <a:ext cx="10058400" cy="1051560"/>
          </a:xfrm>
          <a:prstGeom prst="rect">
            <a:avLst/>
          </a:prstGeom>
          <a:noFill/>
        </p:spPr>
        <p:txBody>
          <a:bodyPr wrap="square" lIns="0" rIns="0" tIns="0" bIns="0">
            <a:spAutoFit/>
          </a:bodyPr>
          <a:lstStyle/>
          <a:p>
            <a:pPr algn="l">
              <a:spcBef>
                <a:spcPts val="0"/>
              </a:spcBef>
              <a:spcAft>
                <a:spcPts val="300"/>
              </a:spcAft>
            </a:pPr>
            <a:r>
              <a:rPr sz="1000" b="1" i="0">
                <a:solidFill>
                  <a:srgbClr val="3B82F6"/>
                </a:solidFill>
                <a:latin typeface="Calibri"/>
              </a:rPr>
              <a:t>SECTION 4 — RESULTS</a:t>
            </a:r>
          </a:p>
          <a:p>
            <a:pPr algn="l">
              <a:spcBef>
                <a:spcPts val="0"/>
              </a:spcBef>
              <a:spcAft>
                <a:spcPts val="0"/>
              </a:spcAft>
            </a:pPr>
            <a:r>
              <a:rPr sz="2600" b="1" i="0">
                <a:solidFill>
                  <a:srgbClr val="F1F5F9"/>
                </a:solidFill>
                <a:latin typeface="Calibri"/>
              </a:rPr>
              <a:t>Measured Performance vs Literature Benchmarks</a:t>
            </a:r>
          </a:p>
        </p:txBody>
      </p:sp>
      <p:sp>
        <p:nvSpPr>
          <p:cNvPr id="3" name="Rectangle 2"/>
          <p:cNvSpPr/>
          <p:nvPr/>
        </p:nvSpPr>
        <p:spPr>
          <a:xfrm>
            <a:off x="521207" y="1170432"/>
            <a:ext cx="1920240" cy="2794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73952"/>
            <a:ext cx="8686800" cy="292608"/>
          </a:xfrm>
          <a:prstGeom prst="rect">
            <a:avLst/>
          </a:prstGeom>
          <a:noFill/>
        </p:spPr>
        <p:txBody>
          <a:bodyPr wrap="square" lIns="0" rIns="0" tIns="0" bIns="0">
            <a:spAutoFit/>
          </a:bodyPr>
          <a:lstStyle/>
          <a:p>
            <a:pPr algn="l">
              <a:spcBef>
                <a:spcPts val="0"/>
              </a:spcBef>
              <a:spcAft>
                <a:spcPts val="0"/>
              </a:spcAft>
            </a:pPr>
            <a:r>
              <a:rPr sz="850" b="0" i="0">
                <a:solidFill>
                  <a:srgbClr val="94A3B8"/>
                </a:solidFill>
                <a:latin typeface="Calibri"/>
              </a:rPr>
              <a:t>CNC Tool Wear Prediction And Scrap Risk Signal  ·  academic project  ·  Oct 2026</a:t>
            </a:r>
          </a:p>
        </p:txBody>
      </p:sp>
      <p:sp>
        <p:nvSpPr>
          <p:cNvPr id="5" name="TextBox 4"/>
          <p:cNvSpPr txBox="1"/>
          <p:nvPr/>
        </p:nvSpPr>
        <p:spPr>
          <a:xfrm>
            <a:off x="10972800" y="6473952"/>
            <a:ext cx="777240" cy="292608"/>
          </a:xfrm>
          <a:prstGeom prst="rect">
            <a:avLst/>
          </a:prstGeom>
          <a:noFill/>
        </p:spPr>
        <p:txBody>
          <a:bodyPr wrap="square" lIns="0" rIns="0" tIns="0" bIns="0">
            <a:spAutoFit/>
          </a:bodyPr>
          <a:lstStyle/>
          <a:p>
            <a:pPr algn="r">
              <a:spcBef>
                <a:spcPts val="0"/>
              </a:spcBef>
              <a:spcAft>
                <a:spcPts val="0"/>
              </a:spcAft>
            </a:pPr>
            <a:r>
              <a:rPr sz="850" b="0" i="0">
                <a:solidFill>
                  <a:srgbClr val="94A3B8"/>
                </a:solidFill>
                <a:latin typeface="Calibri"/>
              </a:rPr>
              <a:t>7 / 10</a:t>
            </a:r>
          </a:p>
        </p:txBody>
      </p:sp>
      <p:graphicFrame>
        <p:nvGraphicFramePr>
          <p:cNvPr id="6" name="Table 5"/>
          <p:cNvGraphicFramePr>
            <a:graphicFrameLocks noGrp="1"/>
          </p:cNvGraphicFramePr>
          <p:nvPr/>
        </p:nvGraphicFramePr>
        <p:xfrm>
          <a:off x="502920" y="1463040"/>
          <a:ext cx="5257800" cy="3415284"/>
        </p:xfrm>
        <a:graphic>
          <a:graphicData uri="http://schemas.openxmlformats.org/drawingml/2006/table">
            <a:tbl>
              <a:tblPr>
                <a:tableStyleId>{5C22544A-7EE6-4342-B048-85BDC9FD1C3A}</a:tableStyleId>
              </a:tblPr>
              <a:tblGrid>
                <a:gridCol w="2514600"/>
                <a:gridCol w="1417320"/>
                <a:gridCol w="1325880"/>
              </a:tblGrid>
              <a:tr h="379476">
                <a:tc>
                  <a:txBody>
                    <a:bodyPr wrap="square"/>
                    <a:lstStyle/>
                    <a:p>
                      <a:pPr algn="l"/>
                      <a:r>
                        <a:rPr sz="960" b="1">
                          <a:solidFill>
                            <a:srgbClr val="F1F5F9"/>
                          </a:solidFill>
                          <a:latin typeface="Calibri"/>
                        </a:rPr>
                        <a:t>Metric (held-out tool runs, seed 42)</a:t>
                      </a:r>
                    </a:p>
                  </a:txBody>
                  <a:tcPr marL="73152" marR="54864" marT="27432" marB="27432" anchor="ctr">
                    <a:solidFill>
                      <a:srgbClr val="1E293B"/>
                    </a:solidFill>
                  </a:tcPr>
                </a:tc>
                <a:tc>
                  <a:txBody>
                    <a:bodyPr wrap="square"/>
                    <a:lstStyle/>
                    <a:p>
                      <a:pPr algn="l"/>
                      <a:r>
                        <a:rPr sz="960" b="1">
                          <a:solidFill>
                            <a:srgbClr val="F1F5F9"/>
                          </a:solidFill>
                          <a:latin typeface="Calibri"/>
                        </a:rPr>
                        <a:t>This work</a:t>
                      </a:r>
                    </a:p>
                  </a:txBody>
                  <a:tcPr marL="73152" marR="54864" marT="27432" marB="27432" anchor="ctr">
                    <a:solidFill>
                      <a:srgbClr val="1E293B"/>
                    </a:solidFill>
                  </a:tcPr>
                </a:tc>
                <a:tc>
                  <a:txBody>
                    <a:bodyPr wrap="square"/>
                    <a:lstStyle/>
                    <a:p>
                      <a:pPr algn="l"/>
                      <a:r>
                        <a:rPr sz="900" b="1">
                          <a:solidFill>
                            <a:srgbClr val="F1F5F9"/>
                          </a:solidFill>
                          <a:latin typeface="Calibri"/>
                        </a:rPr>
                        <a:t>Benchmark</a:t>
                      </a:r>
                    </a:p>
                  </a:txBody>
                  <a:tcPr marL="73152" marR="54864" marT="27432" marB="27432" anchor="ctr">
                    <a:solidFill>
                      <a:srgbClr val="1E293B"/>
                    </a:solidFill>
                  </a:tcPr>
                </a:tc>
              </a:tr>
              <a:tr h="379476">
                <a:tc>
                  <a:txBody>
                    <a:bodyPr wrap="square"/>
                    <a:lstStyle/>
                    <a:p>
                      <a:pPr algn="l"/>
                      <a:r>
                        <a:rPr sz="960" b="0">
                          <a:solidFill>
                            <a:srgbClr val="F1F5F9"/>
                          </a:solidFill>
                          <a:latin typeface="Calibri"/>
                        </a:rPr>
                        <a:t>MAE — Q50 flank wear*</a:t>
                      </a:r>
                    </a:p>
                  </a:txBody>
                  <a:tcPr marL="73152" marR="54864" marT="27432" marB="27432" anchor="ctr">
                    <a:solidFill>
                      <a:srgbClr val="16202F"/>
                    </a:solidFill>
                  </a:tcPr>
                </a:tc>
                <a:tc>
                  <a:txBody>
                    <a:bodyPr wrap="square"/>
                    <a:lstStyle/>
                    <a:p>
                      <a:pPr algn="l"/>
                      <a:r>
                        <a:rPr sz="960" b="0">
                          <a:solidFill>
                            <a:srgbClr val="F1F5F9"/>
                          </a:solidFill>
                          <a:latin typeface="Calibri"/>
                        </a:rPr>
                        <a:t>0.0132 mm</a:t>
                      </a:r>
                    </a:p>
                  </a:txBody>
                  <a:tcPr marL="73152" marR="54864" marT="27432" marB="27432" anchor="ctr">
                    <a:solidFill>
                      <a:srgbClr val="16202F"/>
                    </a:solidFill>
                  </a:tcPr>
                </a:tc>
                <a:tc>
                  <a:txBody>
                    <a:bodyPr wrap="square"/>
                    <a:lstStyle/>
                    <a:p>
                      <a:pPr algn="l"/>
                      <a:r>
                        <a:rPr sz="900" b="0">
                          <a:solidFill>
                            <a:srgbClr val="F1F5F9"/>
                          </a:solidFill>
                          <a:latin typeface="Calibri"/>
                        </a:rPr>
                        <a:t>≤ 0.023–0.028 [P2]</a:t>
                      </a:r>
                    </a:p>
                  </a:txBody>
                  <a:tcPr marL="73152" marR="54864" marT="27432" marB="27432" anchor="ctr">
                    <a:solidFill>
                      <a:srgbClr val="16202F"/>
                    </a:solidFill>
                  </a:tcPr>
                </a:tc>
              </a:tr>
              <a:tr h="379476">
                <a:tc>
                  <a:txBody>
                    <a:bodyPr wrap="square"/>
                    <a:lstStyle/>
                    <a:p>
                      <a:pPr algn="l"/>
                      <a:r>
                        <a:rPr sz="960" b="0">
                          <a:solidFill>
                            <a:srgbClr val="F1F5F9"/>
                          </a:solidFill>
                          <a:latin typeface="Calibri"/>
                        </a:rPr>
                        <a:t>RMSE — Q50 flank wear*</a:t>
                      </a:r>
                    </a:p>
                  </a:txBody>
                  <a:tcPr marL="73152" marR="54864" marT="27432" marB="27432" anchor="ctr">
                    <a:solidFill>
                      <a:srgbClr val="1E293B"/>
                    </a:solidFill>
                  </a:tcPr>
                </a:tc>
                <a:tc>
                  <a:txBody>
                    <a:bodyPr wrap="square"/>
                    <a:lstStyle/>
                    <a:p>
                      <a:pPr algn="l"/>
                      <a:r>
                        <a:rPr sz="960" b="0">
                          <a:solidFill>
                            <a:srgbClr val="F1F5F9"/>
                          </a:solidFill>
                          <a:latin typeface="Calibri"/>
                        </a:rPr>
                        <a:t>0.0177 mm</a:t>
                      </a:r>
                    </a:p>
                  </a:txBody>
                  <a:tcPr marL="73152" marR="54864" marT="27432" marB="27432" anchor="ctr">
                    <a:solidFill>
                      <a:srgbClr val="1E293B"/>
                    </a:solidFill>
                  </a:tcPr>
                </a:tc>
                <a:tc>
                  <a:txBody>
                    <a:bodyPr wrap="square"/>
                    <a:lstStyle/>
                    <a:p>
                      <a:pPr algn="l"/>
                      <a:r>
                        <a:rPr sz="900" b="0">
                          <a:solidFill>
                            <a:srgbClr val="F1F5F9"/>
                          </a:solidFill>
                          <a:latin typeface="Calibri"/>
                        </a:rPr>
                        <a:t>≤ 0.031–0.036 [P2]</a:t>
                      </a:r>
                    </a:p>
                  </a:txBody>
                  <a:tcPr marL="73152" marR="54864" marT="27432" marB="27432" anchor="ctr">
                    <a:solidFill>
                      <a:srgbClr val="1E293B"/>
                    </a:solidFill>
                  </a:tcPr>
                </a:tc>
              </a:tr>
              <a:tr h="379476">
                <a:tc>
                  <a:txBody>
                    <a:bodyPr wrap="square"/>
                    <a:lstStyle/>
                    <a:p>
                      <a:pPr algn="l"/>
                      <a:r>
                        <a:rPr sz="960" b="0">
                          <a:solidFill>
                            <a:srgbClr val="F1F5F9"/>
                          </a:solidFill>
                          <a:latin typeface="Calibri"/>
                        </a:rPr>
                        <a:t>Wear-level accuracy (3-stage)*</a:t>
                      </a:r>
                    </a:p>
                  </a:txBody>
                  <a:tcPr marL="73152" marR="54864" marT="27432" marB="27432" anchor="ctr">
                    <a:solidFill>
                      <a:srgbClr val="16202F"/>
                    </a:solidFill>
                  </a:tcPr>
                </a:tc>
                <a:tc>
                  <a:txBody>
                    <a:bodyPr wrap="square"/>
                    <a:lstStyle/>
                    <a:p>
                      <a:pPr algn="l"/>
                      <a:r>
                        <a:rPr sz="960" b="0">
                          <a:solidFill>
                            <a:srgbClr val="F1F5F9"/>
                          </a:solidFill>
                          <a:latin typeface="Calibri"/>
                        </a:rPr>
                        <a:t>93.1 %</a:t>
                      </a:r>
                    </a:p>
                  </a:txBody>
                  <a:tcPr marL="73152" marR="54864" marT="27432" marB="27432" anchor="ctr">
                    <a:solidFill>
                      <a:srgbClr val="16202F"/>
                    </a:solidFill>
                  </a:tcPr>
                </a:tc>
                <a:tc>
                  <a:txBody>
                    <a:bodyPr wrap="square"/>
                    <a:lstStyle/>
                    <a:p>
                      <a:pPr algn="l"/>
                      <a:r>
                        <a:rPr sz="900" b="0">
                          <a:solidFill>
                            <a:srgbClr val="F1F5F9"/>
                          </a:solidFill>
                          <a:latin typeface="Calibri"/>
                        </a:rPr>
                        <a:t>98.7 % [P2] · 84–100 % [P3]</a:t>
                      </a:r>
                    </a:p>
                  </a:txBody>
                  <a:tcPr marL="73152" marR="54864" marT="27432" marB="27432" anchor="ctr">
                    <a:solidFill>
                      <a:srgbClr val="16202F"/>
                    </a:solidFill>
                  </a:tcPr>
                </a:tc>
              </a:tr>
              <a:tr h="379476">
                <a:tc>
                  <a:txBody>
                    <a:bodyPr wrap="square"/>
                    <a:lstStyle/>
                    <a:p>
                      <a:pPr algn="l"/>
                      <a:r>
                        <a:rPr sz="960" b="0">
                          <a:solidFill>
                            <a:srgbClr val="F1F5F9"/>
                          </a:solidFill>
                          <a:latin typeface="Calibri"/>
                        </a:rPr>
                        <a:t>Q10–Q90 coverage (target 80 %)</a:t>
                      </a:r>
                    </a:p>
                  </a:txBody>
                  <a:tcPr marL="73152" marR="54864" marT="27432" marB="27432" anchor="ctr">
                    <a:solidFill>
                      <a:srgbClr val="1E293B"/>
                    </a:solidFill>
                  </a:tcPr>
                </a:tc>
                <a:tc>
                  <a:txBody>
                    <a:bodyPr wrap="square"/>
                    <a:lstStyle/>
                    <a:p>
                      <a:pPr algn="l"/>
                      <a:r>
                        <a:rPr sz="960" b="0">
                          <a:solidFill>
                            <a:srgbClr val="F1F5F9"/>
                          </a:solidFill>
                          <a:latin typeface="Calibri"/>
                        </a:rPr>
                        <a:t>80.9 %</a:t>
                      </a:r>
                    </a:p>
                  </a:txBody>
                  <a:tcPr marL="73152" marR="54864" marT="27432" marB="27432" anchor="ctr">
                    <a:solidFill>
                      <a:srgbClr val="1E293B"/>
                    </a:solidFill>
                  </a:tcPr>
                </a:tc>
                <a:tc>
                  <a:txBody>
                    <a:bodyPr wrap="square"/>
                    <a:lstStyle/>
                    <a:p>
                      <a:pPr algn="l"/>
                      <a:r>
                        <a:rPr sz="900" b="0">
                          <a:solidFill>
                            <a:srgbClr val="F1F5F9"/>
                          </a:solidFill>
                          <a:latin typeface="Calibri"/>
                        </a:rPr>
                        <a:t>not reported in [P2]/[P3]</a:t>
                      </a:r>
                    </a:p>
                  </a:txBody>
                  <a:tcPr marL="73152" marR="54864" marT="27432" marB="27432" anchor="ctr">
                    <a:solidFill>
                      <a:srgbClr val="1E293B"/>
                    </a:solidFill>
                  </a:tcPr>
                </a:tc>
              </a:tr>
              <a:tr h="379476">
                <a:tc>
                  <a:txBody>
                    <a:bodyPr wrap="square"/>
                    <a:lstStyle/>
                    <a:p>
                      <a:pPr algn="l"/>
                      <a:r>
                        <a:rPr sz="960" b="0">
                          <a:solidFill>
                            <a:srgbClr val="F1F5F9"/>
                          </a:solidFill>
                          <a:latin typeface="Calibri"/>
                        </a:rPr>
                        <a:t>Scrap-risk ROC-AUC / Brier</a:t>
                      </a:r>
                    </a:p>
                  </a:txBody>
                  <a:tcPr marL="73152" marR="54864" marT="27432" marB="27432" anchor="ctr">
                    <a:solidFill>
                      <a:srgbClr val="16202F"/>
                    </a:solidFill>
                  </a:tcPr>
                </a:tc>
                <a:tc>
                  <a:txBody>
                    <a:bodyPr wrap="square"/>
                    <a:lstStyle/>
                    <a:p>
                      <a:pPr algn="l"/>
                      <a:r>
                        <a:rPr sz="960" b="0">
                          <a:solidFill>
                            <a:srgbClr val="F1F5F9"/>
                          </a:solidFill>
                          <a:latin typeface="Calibri"/>
                        </a:rPr>
                        <a:t>0.873 / 0.0974</a:t>
                      </a:r>
                    </a:p>
                  </a:txBody>
                  <a:tcPr marL="73152" marR="54864" marT="27432" marB="27432" anchor="ctr">
                    <a:solidFill>
                      <a:srgbClr val="16202F"/>
                    </a:solidFill>
                  </a:tcPr>
                </a:tc>
                <a:tc>
                  <a:txBody>
                    <a:bodyPr wrap="square"/>
                    <a:lstStyle/>
                    <a:p>
                      <a:pPr algn="l"/>
                      <a:r>
                        <a:rPr sz="900" b="0">
                          <a:solidFill>
                            <a:srgbClr val="F1F5F9"/>
                          </a:solidFill>
                          <a:latin typeface="Calibri"/>
                        </a:rPr>
                        <a:t>not reported in [P2]/[P3]</a:t>
                      </a:r>
                    </a:p>
                  </a:txBody>
                  <a:tcPr marL="73152" marR="54864" marT="27432" marB="27432" anchor="ctr">
                    <a:solidFill>
                      <a:srgbClr val="16202F"/>
                    </a:solidFill>
                  </a:tcPr>
                </a:tc>
              </a:tr>
              <a:tr h="379476">
                <a:tc>
                  <a:txBody>
                    <a:bodyPr wrap="square"/>
                    <a:lstStyle/>
                    <a:p>
                      <a:pPr algn="l"/>
                      <a:r>
                        <a:rPr sz="960" b="0">
                          <a:solidFill>
                            <a:srgbClr val="F1F5F9"/>
                          </a:solidFill>
                          <a:latin typeface="Calibri"/>
                        </a:rPr>
                        <a:t>Inference latency (band / scrap)</a:t>
                      </a:r>
                    </a:p>
                  </a:txBody>
                  <a:tcPr marL="73152" marR="54864" marT="27432" marB="27432" anchor="ctr">
                    <a:solidFill>
                      <a:srgbClr val="1E293B"/>
                    </a:solidFill>
                  </a:tcPr>
                </a:tc>
                <a:tc>
                  <a:txBody>
                    <a:bodyPr wrap="square"/>
                    <a:lstStyle/>
                    <a:p>
                      <a:pPr algn="l"/>
                      <a:r>
                        <a:rPr sz="960" b="0">
                          <a:solidFill>
                            <a:srgbClr val="F1F5F9"/>
                          </a:solidFill>
                          <a:latin typeface="Calibri"/>
                        </a:rPr>
                        <a:t>6.25 / 8.75 ms</a:t>
                      </a:r>
                    </a:p>
                  </a:txBody>
                  <a:tcPr marL="73152" marR="54864" marT="27432" marB="27432" anchor="ctr">
                    <a:solidFill>
                      <a:srgbClr val="1E293B"/>
                    </a:solidFill>
                  </a:tcPr>
                </a:tc>
                <a:tc>
                  <a:txBody>
                    <a:bodyPr wrap="square"/>
                    <a:lstStyle/>
                    <a:p>
                      <a:pPr algn="l"/>
                      <a:r>
                        <a:rPr sz="900" b="0">
                          <a:solidFill>
                            <a:srgbClr val="F1F5F9"/>
                          </a:solidFill>
                          <a:latin typeface="Calibri"/>
                        </a:rPr>
                        <a:t>≤ 12.8 ms [P2]</a:t>
                      </a:r>
                    </a:p>
                  </a:txBody>
                  <a:tcPr marL="73152" marR="54864" marT="27432" marB="27432" anchor="ctr">
                    <a:solidFill>
                      <a:srgbClr val="1E293B"/>
                    </a:solidFill>
                  </a:tcPr>
                </a:tc>
              </a:tr>
              <a:tr h="379476">
                <a:tc>
                  <a:txBody>
                    <a:bodyPr wrap="square"/>
                    <a:lstStyle/>
                    <a:p>
                      <a:pPr algn="l"/>
                      <a:r>
                        <a:rPr sz="960" b="0">
                          <a:solidFill>
                            <a:srgbClr val="F1F5F9"/>
                          </a:solidFill>
                          <a:latin typeface="Calibri"/>
                        </a:rPr>
                        <a:t>Model size (full / fast-boot)</a:t>
                      </a:r>
                    </a:p>
                  </a:txBody>
                  <a:tcPr marL="73152" marR="54864" marT="27432" marB="27432" anchor="ctr">
                    <a:solidFill>
                      <a:srgbClr val="16202F"/>
                    </a:solidFill>
                  </a:tcPr>
                </a:tc>
                <a:tc>
                  <a:txBody>
                    <a:bodyPr wrap="square"/>
                    <a:lstStyle/>
                    <a:p>
                      <a:pPr algn="l"/>
                      <a:r>
                        <a:rPr sz="960" b="0">
                          <a:solidFill>
                            <a:srgbClr val="F1F5F9"/>
                          </a:solidFill>
                          <a:latin typeface="Calibri"/>
                        </a:rPr>
                        <a:t>2.92 / 0.23 MB</a:t>
                      </a:r>
                    </a:p>
                  </a:txBody>
                  <a:tcPr marL="73152" marR="54864" marT="27432" marB="27432" anchor="ctr">
                    <a:solidFill>
                      <a:srgbClr val="16202F"/>
                    </a:solidFill>
                  </a:tcPr>
                </a:tc>
                <a:tc>
                  <a:txBody>
                    <a:bodyPr wrap="square"/>
                    <a:lstStyle/>
                    <a:p>
                      <a:pPr algn="l"/>
                      <a:r>
                        <a:rPr sz="900" b="0">
                          <a:solidFill>
                            <a:srgbClr val="F1F5F9"/>
                          </a:solidFill>
                          <a:latin typeface="Calibri"/>
                        </a:rPr>
                        <a:t>≤ 2.3 MB [P2]</a:t>
                      </a:r>
                    </a:p>
                  </a:txBody>
                  <a:tcPr marL="73152" marR="54864" marT="27432" marB="27432" anchor="ctr">
                    <a:solidFill>
                      <a:srgbClr val="16202F"/>
                    </a:solidFill>
                  </a:tcPr>
                </a:tc>
              </a:tr>
              <a:tr h="379476">
                <a:tc>
                  <a:txBody>
                    <a:bodyPr wrap="square"/>
                    <a:lstStyle/>
                    <a:p>
                      <a:pPr algn="l"/>
                      <a:r>
                        <a:rPr sz="960" b="0">
                          <a:solidFill>
                            <a:srgbClr val="F1F5F9"/>
                          </a:solidFill>
                          <a:latin typeface="Calibri"/>
                        </a:rPr>
                        <a:t>Training time (full / fast-boot)</a:t>
                      </a:r>
                    </a:p>
                  </a:txBody>
                  <a:tcPr marL="73152" marR="54864" marT="27432" marB="27432" anchor="ctr">
                    <a:solidFill>
                      <a:srgbClr val="1E293B"/>
                    </a:solidFill>
                  </a:tcPr>
                </a:tc>
                <a:tc>
                  <a:txBody>
                    <a:bodyPr wrap="square"/>
                    <a:lstStyle/>
                    <a:p>
                      <a:pPr algn="l"/>
                      <a:r>
                        <a:rPr sz="960" b="0">
                          <a:solidFill>
                            <a:srgbClr val="F1F5F9"/>
                          </a:solidFill>
                          <a:latin typeface="Calibri"/>
                        </a:rPr>
                        <a:t>14.3 / 0.38 s</a:t>
                      </a:r>
                    </a:p>
                  </a:txBody>
                  <a:tcPr marL="73152" marR="54864" marT="27432" marB="27432" anchor="ctr">
                    <a:solidFill>
                      <a:srgbClr val="1E293B"/>
                    </a:solidFill>
                  </a:tcPr>
                </a:tc>
                <a:tc>
                  <a:txBody>
                    <a:bodyPr wrap="square"/>
                    <a:lstStyle/>
                    <a:p>
                      <a:pPr algn="l"/>
                      <a:r>
                        <a:rPr sz="900" b="0">
                          <a:solidFill>
                            <a:srgbClr val="F1F5F9"/>
                          </a:solidFill>
                          <a:latin typeface="Calibri"/>
                        </a:rPr>
                        <a:t>—</a:t>
                      </a:r>
                    </a:p>
                  </a:txBody>
                  <a:tcPr marL="73152" marR="54864" marT="27432" marB="27432" anchor="ctr">
                    <a:solidFill>
                      <a:srgbClr val="1E293B"/>
                    </a:solidFill>
                  </a:tcPr>
                </a:tc>
              </a:tr>
            </a:tbl>
          </a:graphicData>
        </a:graphic>
      </p:graphicFrame>
      <p:sp>
        <p:nvSpPr>
          <p:cNvPr id="7" name="TextBox 6"/>
          <p:cNvSpPr txBox="1"/>
          <p:nvPr/>
        </p:nvSpPr>
        <p:spPr>
          <a:xfrm>
            <a:off x="502920" y="5029200"/>
            <a:ext cx="5257800" cy="1188720"/>
          </a:xfrm>
          <a:prstGeom prst="rect">
            <a:avLst/>
          </a:prstGeom>
          <a:noFill/>
        </p:spPr>
        <p:txBody>
          <a:bodyPr wrap="square" lIns="0" rIns="0" tIns="0" bIns="0">
            <a:spAutoFit/>
          </a:bodyPr>
          <a:lstStyle/>
          <a:p>
            <a:pPr algn="l">
              <a:spcBef>
                <a:spcPts val="0"/>
              </a:spcBef>
              <a:spcAft>
                <a:spcPts val="400"/>
              </a:spcAft>
            </a:pPr>
            <a:r>
              <a:rPr sz="900" b="0" i="1">
                <a:solidFill>
                  <a:srgbClr val="F59E0B"/>
                </a:solidFill>
                <a:latin typeface="Calibri"/>
              </a:rPr>
              <a:t>* synthetic ground truth — the target is this system's own physics-informed simulator, so these figures demonstrate internal consistency, not yet real-tool skill. External validation on PHM 2010 is the top roadmap item (slide 9).</a:t>
            </a:r>
          </a:p>
          <a:p>
            <a:pPr algn="l">
              <a:spcBef>
                <a:spcPts val="0"/>
              </a:spcBef>
              <a:spcAft>
                <a:spcPts val="0"/>
              </a:spcAft>
            </a:pPr>
            <a:r>
              <a:rPr sz="900" b="0" i="0">
                <a:solidFill>
                  <a:srgbClr val="94A3B8"/>
                </a:solidFill>
                <a:latin typeface="Calibri"/>
              </a:rPr>
              <a:t>Latency beats [P2]'s edge budget on far weaker hardware; wear-level accuracy falls inside [P3]'s validated 84–100 % envelope for known-wear tools.</a:t>
            </a:r>
          </a:p>
        </p:txBody>
      </p:sp>
      <p:pic>
        <p:nvPicPr>
          <p:cNvPr id="8" name="Picture 7" descr="chart_benchmarks.png"/>
          <p:cNvPicPr>
            <a:picLocks noChangeAspect="1"/>
          </p:cNvPicPr>
          <p:nvPr/>
        </p:nvPicPr>
        <p:blipFill>
          <a:blip r:embed="rId2"/>
          <a:srcRect l="6480" r="6480"/>
          <a:stretch>
            <a:fillRect/>
          </a:stretch>
        </p:blipFill>
        <p:spPr>
          <a:xfrm>
            <a:off x="5943600" y="1600200"/>
            <a:ext cx="5806440" cy="2377440"/>
          </a:xfrm>
          <a:prstGeom prst="rect">
            <a:avLst/>
          </a:prstGeom>
        </p:spPr>
      </p:pic>
      <p:sp>
        <p:nvSpPr>
          <p:cNvPr id="9" name="Rounded Rectangle 8"/>
          <p:cNvSpPr/>
          <p:nvPr/>
        </p:nvSpPr>
        <p:spPr>
          <a:xfrm>
            <a:off x="5943600" y="4206240"/>
            <a:ext cx="5806440" cy="205740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91440" bIns="73152"/>
          <a:lstStyle/>
          <a:p>
            <a:pPr algn="l">
              <a:spcBef>
                <a:spcPts val="0"/>
              </a:spcBef>
              <a:spcAft>
                <a:spcPts val="400"/>
              </a:spcAft>
            </a:pPr>
            <a:r>
              <a:rPr sz="1050" b="1" i="0">
                <a:solidFill>
                  <a:srgbClr val="3B82F6"/>
                </a:solidFill>
                <a:latin typeface="Calibri"/>
              </a:rPr>
              <a:t>READING THE COMPARISON HONESTLY</a:t>
            </a:r>
          </a:p>
          <a:p>
            <a:pPr algn="l">
              <a:spcBef>
                <a:spcPts val="0"/>
              </a:spcBef>
              <a:spcAft>
                <a:spcPts val="400"/>
              </a:spcAft>
            </a:pPr>
            <a:r>
              <a:rPr sz="960" b="1">
                <a:solidFill>
                  <a:srgbClr val="F59E0B"/>
                </a:solidFill>
                <a:latin typeface="Calibri"/>
              </a:rPr>
              <a:t>▸  </a:t>
            </a:r>
            <a:r>
              <a:rPr sz="960">
                <a:solidFill>
                  <a:srgbClr val="F1F5F9"/>
                </a:solidFill>
                <a:latin typeface="Calibri"/>
              </a:rPr>
              <a:t>the * bars beat [P2]'s A-LWDRL numerically only because the target is smooth simulated wear (r(taylor_ratio, VB) = 0.949); they are not yet comparable claims.</a:t>
            </a:r>
          </a:p>
          <a:p>
            <a:pPr algn="l">
              <a:spcBef>
                <a:spcPts val="0"/>
              </a:spcBef>
              <a:spcAft>
                <a:spcPts val="400"/>
              </a:spcAft>
            </a:pPr>
            <a:r>
              <a:rPr sz="960" b="1">
                <a:solidFill>
                  <a:srgbClr val="3B82F6"/>
                </a:solidFill>
                <a:latin typeface="Calibri"/>
              </a:rPr>
              <a:t>▸  </a:t>
            </a:r>
            <a:r>
              <a:rPr sz="960">
                <a:solidFill>
                  <a:srgbClr val="F1F5F9"/>
                </a:solidFill>
                <a:latin typeface="Calibri"/>
              </a:rPr>
              <a:t>93.1 % sits above [P2]'s SVM (82.3 %), LSTM (92.5 %) and DQN (93.8 %) rows and inside [P3]'s 84–100 % band — but 5.6 pts below A-LWDRL's 98.7 %.</a:t>
            </a:r>
          </a:p>
          <a:p>
            <a:pPr algn="l">
              <a:spcBef>
                <a:spcPts val="0"/>
              </a:spcBef>
              <a:spcAft>
                <a:spcPts val="0"/>
              </a:spcAft>
            </a:pPr>
            <a:r>
              <a:rPr sz="960" b="1">
                <a:solidFill>
                  <a:srgbClr val="10B981"/>
                </a:solidFill>
                <a:latin typeface="Calibri"/>
              </a:rPr>
              <a:t>▸  </a:t>
            </a:r>
            <a:r>
              <a:rPr sz="960">
                <a:solidFill>
                  <a:srgbClr val="F1F5F9"/>
                </a:solidFill>
                <a:latin typeface="Calibri"/>
              </a:rPr>
              <a:t>the fast-boot tier ships a 0.23 MB model — 10× under [P2]'s 2.3 MB edge target.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02920" y="292608"/>
            <a:ext cx="10058400" cy="1051560"/>
          </a:xfrm>
          <a:prstGeom prst="rect">
            <a:avLst/>
          </a:prstGeom>
          <a:noFill/>
        </p:spPr>
        <p:txBody>
          <a:bodyPr wrap="square" lIns="0" rIns="0" tIns="0" bIns="0">
            <a:spAutoFit/>
          </a:bodyPr>
          <a:lstStyle/>
          <a:p>
            <a:pPr algn="l">
              <a:spcBef>
                <a:spcPts val="0"/>
              </a:spcBef>
              <a:spcAft>
                <a:spcPts val="300"/>
              </a:spcAft>
            </a:pPr>
            <a:r>
              <a:rPr sz="1000" b="1" i="0">
                <a:solidFill>
                  <a:srgbClr val="3B82F6"/>
                </a:solidFill>
                <a:latin typeface="Calibri"/>
              </a:rPr>
              <a:t>SECTION 5 — INDEPENDENT VALIDATION</a:t>
            </a:r>
          </a:p>
          <a:p>
            <a:pPr algn="l">
              <a:spcBef>
                <a:spcPts val="0"/>
              </a:spcBef>
              <a:spcAft>
                <a:spcPts val="0"/>
              </a:spcAft>
            </a:pPr>
            <a:r>
              <a:rPr sz="2600" b="1" i="0">
                <a:solidFill>
                  <a:srgbClr val="F1F5F9"/>
                </a:solidFill>
                <a:latin typeface="Calibri"/>
              </a:rPr>
              <a:t>Cross-Validation Against the Three Papers</a:t>
            </a:r>
          </a:p>
        </p:txBody>
      </p:sp>
      <p:sp>
        <p:nvSpPr>
          <p:cNvPr id="3" name="Rectangle 2"/>
          <p:cNvSpPr/>
          <p:nvPr/>
        </p:nvSpPr>
        <p:spPr>
          <a:xfrm>
            <a:off x="521207" y="1170432"/>
            <a:ext cx="1920240" cy="2794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73952"/>
            <a:ext cx="8686800" cy="292608"/>
          </a:xfrm>
          <a:prstGeom prst="rect">
            <a:avLst/>
          </a:prstGeom>
          <a:noFill/>
        </p:spPr>
        <p:txBody>
          <a:bodyPr wrap="square" lIns="0" rIns="0" tIns="0" bIns="0">
            <a:spAutoFit/>
          </a:bodyPr>
          <a:lstStyle/>
          <a:p>
            <a:pPr algn="l">
              <a:spcBef>
                <a:spcPts val="0"/>
              </a:spcBef>
              <a:spcAft>
                <a:spcPts val="0"/>
              </a:spcAft>
            </a:pPr>
            <a:r>
              <a:rPr sz="850" b="0" i="0">
                <a:solidFill>
                  <a:srgbClr val="94A3B8"/>
                </a:solidFill>
                <a:latin typeface="Calibri"/>
              </a:rPr>
              <a:t>CNC Tool Wear Prediction And Scrap Risk Signal  ·  academic project  ·  Oct 2026</a:t>
            </a:r>
          </a:p>
        </p:txBody>
      </p:sp>
      <p:sp>
        <p:nvSpPr>
          <p:cNvPr id="5" name="TextBox 4"/>
          <p:cNvSpPr txBox="1"/>
          <p:nvPr/>
        </p:nvSpPr>
        <p:spPr>
          <a:xfrm>
            <a:off x="10972800" y="6473952"/>
            <a:ext cx="777240" cy="292608"/>
          </a:xfrm>
          <a:prstGeom prst="rect">
            <a:avLst/>
          </a:prstGeom>
          <a:noFill/>
        </p:spPr>
        <p:txBody>
          <a:bodyPr wrap="square" lIns="0" rIns="0" tIns="0" bIns="0">
            <a:spAutoFit/>
          </a:bodyPr>
          <a:lstStyle/>
          <a:p>
            <a:pPr algn="r">
              <a:spcBef>
                <a:spcPts val="0"/>
              </a:spcBef>
              <a:spcAft>
                <a:spcPts val="0"/>
              </a:spcAft>
            </a:pPr>
            <a:r>
              <a:rPr sz="850" b="0" i="0">
                <a:solidFill>
                  <a:srgbClr val="94A3B8"/>
                </a:solidFill>
                <a:latin typeface="Calibri"/>
              </a:rPr>
              <a:t>8 / 10</a:t>
            </a:r>
          </a:p>
        </p:txBody>
      </p:sp>
      <p:graphicFrame>
        <p:nvGraphicFramePr>
          <p:cNvPr id="6" name="Table 5"/>
          <p:cNvGraphicFramePr>
            <a:graphicFrameLocks noGrp="1"/>
          </p:cNvGraphicFramePr>
          <p:nvPr/>
        </p:nvGraphicFramePr>
        <p:xfrm>
          <a:off x="502920" y="1371600"/>
          <a:ext cx="11201400" cy="3867912"/>
        </p:xfrm>
        <a:graphic>
          <a:graphicData uri="http://schemas.openxmlformats.org/drawingml/2006/table">
            <a:tbl>
              <a:tblPr>
                <a:tableStyleId>{5C22544A-7EE6-4342-B048-85BDC9FD1C3A}</a:tableStyleId>
              </a:tblPr>
              <a:tblGrid>
                <a:gridCol w="502920"/>
                <a:gridCol w="7635240"/>
                <a:gridCol w="3063240"/>
              </a:tblGrid>
              <a:tr h="429768">
                <a:tc>
                  <a:txBody>
                    <a:bodyPr wrap="square"/>
                    <a:lstStyle/>
                    <a:p>
                      <a:pPr algn="ctr"/>
                      <a:r>
                        <a:rPr sz="1100" b="1">
                          <a:solidFill>
                            <a:srgbClr val="F1F5F9"/>
                          </a:solidFill>
                          <a:latin typeface="Calibri"/>
                        </a:rPr>
                        <a:t/>
                      </a:r>
                    </a:p>
                  </a:txBody>
                  <a:tcPr marL="73152" marR="54864" marT="27432" marB="27432" anchor="ctr">
                    <a:solidFill>
                      <a:srgbClr val="1E293B"/>
                    </a:solidFill>
                  </a:tcPr>
                </a:tc>
                <a:tc>
                  <a:txBody>
                    <a:bodyPr wrap="square"/>
                    <a:lstStyle/>
                    <a:p>
                      <a:pPr algn="l"/>
                      <a:r>
                        <a:rPr sz="980" b="1">
                          <a:solidFill>
                            <a:srgbClr val="F1F5F9"/>
                          </a:solidFill>
                          <a:latin typeface="Calibri"/>
                        </a:rPr>
                        <a:t>Finding</a:t>
                      </a:r>
                    </a:p>
                  </a:txBody>
                  <a:tcPr marL="73152" marR="54864" marT="27432" marB="27432" anchor="ctr">
                    <a:solidFill>
                      <a:srgbClr val="1E293B"/>
                    </a:solidFill>
                  </a:tcPr>
                </a:tc>
                <a:tc>
                  <a:txBody>
                    <a:bodyPr wrap="square"/>
                    <a:lstStyle/>
                    <a:p>
                      <a:pPr algn="l"/>
                      <a:r>
                        <a:rPr sz="930" b="1">
                          <a:solidFill>
                            <a:srgbClr val="F1F5F9"/>
                          </a:solidFill>
                          <a:latin typeface="Calibri"/>
                        </a:rPr>
                        <a:t>Source</a:t>
                      </a:r>
                    </a:p>
                  </a:txBody>
                  <a:tcPr marL="73152" marR="54864" marT="27432" marB="27432" anchor="ctr">
                    <a:solidFill>
                      <a:srgbClr val="1E293B"/>
                    </a:solidFill>
                  </a:tcPr>
                </a:tc>
              </a:tr>
              <a:tr h="429768">
                <a:tc>
                  <a:txBody>
                    <a:bodyPr wrap="square"/>
                    <a:lstStyle/>
                    <a:p>
                      <a:pPr algn="ctr"/>
                      <a:r>
                        <a:rPr sz="1100" b="0">
                          <a:solidFill>
                            <a:srgbClr val="10B981"/>
                          </a:solidFill>
                          <a:latin typeface="Calibri"/>
                        </a:rPr>
                        <a:t>✅</a:t>
                      </a:r>
                    </a:p>
                  </a:txBody>
                  <a:tcPr marL="73152" marR="54864" marT="27432" marB="27432" anchor="ctr">
                    <a:solidFill>
                      <a:srgbClr val="16202F"/>
                    </a:solidFill>
                  </a:tcPr>
                </a:tc>
                <a:tc>
                  <a:txBody>
                    <a:bodyPr wrap="square"/>
                    <a:lstStyle/>
                    <a:p>
                      <a:pPr algn="l"/>
                      <a:r>
                        <a:rPr sz="980" b="0">
                          <a:solidFill>
                            <a:srgbClr val="F1F5F9"/>
                          </a:solidFill>
                          <a:latin typeface="Calibri"/>
                        </a:rPr>
                        <a:t>Wear metric is flank wear VB in mm — the metric all three papers converge on</a:t>
                      </a:r>
                    </a:p>
                  </a:txBody>
                  <a:tcPr marL="73152" marR="54864" marT="27432" marB="27432" anchor="ctr">
                    <a:solidFill>
                      <a:srgbClr val="16202F"/>
                    </a:solidFill>
                  </a:tcPr>
                </a:tc>
                <a:tc>
                  <a:txBody>
                    <a:bodyPr wrap="square"/>
                    <a:lstStyle/>
                    <a:p>
                      <a:pPr algn="l"/>
                      <a:r>
                        <a:rPr sz="930" b="0">
                          <a:solidFill>
                            <a:srgbClr val="F1F5F9"/>
                          </a:solidFill>
                          <a:latin typeface="Calibri"/>
                        </a:rPr>
                        <a:t>[P1] abs. · [P2] §III.C · [P3] §6.2</a:t>
                      </a:r>
                    </a:p>
                  </a:txBody>
                  <a:tcPr marL="73152" marR="54864" marT="27432" marB="27432" anchor="ctr">
                    <a:solidFill>
                      <a:srgbClr val="16202F"/>
                    </a:solidFill>
                  </a:tcPr>
                </a:tc>
              </a:tr>
              <a:tr h="429768">
                <a:tc>
                  <a:txBody>
                    <a:bodyPr wrap="square"/>
                    <a:lstStyle/>
                    <a:p>
                      <a:pPr algn="ctr"/>
                      <a:r>
                        <a:rPr sz="1100" b="0">
                          <a:solidFill>
                            <a:srgbClr val="10B981"/>
                          </a:solidFill>
                          <a:latin typeface="Calibri"/>
                        </a:rPr>
                        <a:t>✅</a:t>
                      </a:r>
                    </a:p>
                  </a:txBody>
                  <a:tcPr marL="73152" marR="54864" marT="27432" marB="27432" anchor="ctr">
                    <a:solidFill>
                      <a:srgbClr val="1E293B"/>
                    </a:solidFill>
                  </a:tcPr>
                </a:tc>
                <a:tc>
                  <a:txBody>
                    <a:bodyPr wrap="square"/>
                    <a:lstStyle/>
                    <a:p>
                      <a:pPr algn="l"/>
                      <a:r>
                        <a:rPr sz="980" b="0">
                          <a:solidFill>
                            <a:srgbClr val="F1F5F9"/>
                          </a:solidFill>
                          <a:latin typeface="Calibri"/>
                        </a:rPr>
                        <a:t>Replacement / scrap threshold = 0.30 mm — exact ISO 3685 match, correctly attributed</a:t>
                      </a:r>
                    </a:p>
                  </a:txBody>
                  <a:tcPr marL="73152" marR="54864" marT="27432" marB="27432" anchor="ctr">
                    <a:solidFill>
                      <a:srgbClr val="1E293B"/>
                    </a:solidFill>
                  </a:tcPr>
                </a:tc>
                <a:tc>
                  <a:txBody>
                    <a:bodyPr wrap="square"/>
                    <a:lstStyle/>
                    <a:p>
                      <a:pPr algn="l"/>
                      <a:r>
                        <a:rPr sz="930" b="0">
                          <a:solidFill>
                            <a:srgbClr val="F1F5F9"/>
                          </a:solidFill>
                          <a:latin typeface="Calibri"/>
                        </a:rPr>
                        <a:t>[P3] §6.2, p.40</a:t>
                      </a:r>
                    </a:p>
                  </a:txBody>
                  <a:tcPr marL="73152" marR="54864" marT="27432" marB="27432" anchor="ctr">
                    <a:solidFill>
                      <a:srgbClr val="1E293B"/>
                    </a:solidFill>
                  </a:tcPr>
                </a:tc>
              </a:tr>
              <a:tr h="429768">
                <a:tc>
                  <a:txBody>
                    <a:bodyPr wrap="square"/>
                    <a:lstStyle/>
                    <a:p>
                      <a:pPr algn="ctr"/>
                      <a:r>
                        <a:rPr sz="1100" b="0">
                          <a:solidFill>
                            <a:srgbClr val="10B981"/>
                          </a:solidFill>
                          <a:latin typeface="Calibri"/>
                        </a:rPr>
                        <a:t>✅</a:t>
                      </a:r>
                    </a:p>
                  </a:txBody>
                  <a:tcPr marL="73152" marR="54864" marT="27432" marB="27432" anchor="ctr">
                    <a:solidFill>
                      <a:srgbClr val="16202F"/>
                    </a:solidFill>
                  </a:tcPr>
                </a:tc>
                <a:tc>
                  <a:txBody>
                    <a:bodyPr wrap="square"/>
                    <a:lstStyle/>
                    <a:p>
                      <a:pPr algn="l"/>
                      <a:r>
                        <a:rPr sz="980" b="0">
                          <a:solidFill>
                            <a:srgbClr val="F1F5F9"/>
                          </a:solidFill>
                          <a:latin typeface="Calibri"/>
                        </a:rPr>
                        <a:t>Simulated break-in ceiling 0.045 mm ≈ validated Initial-stage boundary 0.05 mm</a:t>
                      </a:r>
                    </a:p>
                  </a:txBody>
                  <a:tcPr marL="73152" marR="54864" marT="27432" marB="27432" anchor="ctr">
                    <a:solidFill>
                      <a:srgbClr val="16202F"/>
                    </a:solidFill>
                  </a:tcPr>
                </a:tc>
                <a:tc>
                  <a:txBody>
                    <a:bodyPr wrap="square"/>
                    <a:lstStyle/>
                    <a:p>
                      <a:pPr algn="l"/>
                      <a:r>
                        <a:rPr sz="930" b="0">
                          <a:solidFill>
                            <a:srgbClr val="F1F5F9"/>
                          </a:solidFill>
                          <a:latin typeface="Calibri"/>
                        </a:rPr>
                        <a:t>[P2] §III.C</a:t>
                      </a:r>
                    </a:p>
                  </a:txBody>
                  <a:tcPr marL="73152" marR="54864" marT="27432" marB="27432" anchor="ctr">
                    <a:solidFill>
                      <a:srgbClr val="16202F"/>
                    </a:solidFill>
                  </a:tcPr>
                </a:tc>
              </a:tr>
              <a:tr h="429768">
                <a:tc>
                  <a:txBody>
                    <a:bodyPr wrap="square"/>
                    <a:lstStyle/>
                    <a:p>
                      <a:pPr algn="ctr"/>
                      <a:r>
                        <a:rPr sz="1100" b="0">
                          <a:solidFill>
                            <a:srgbClr val="10B981"/>
                          </a:solidFill>
                          <a:latin typeface="Calibri"/>
                        </a:rPr>
                        <a:t>✅</a:t>
                      </a:r>
                    </a:p>
                  </a:txBody>
                  <a:tcPr marL="73152" marR="54864" marT="27432" marB="27432" anchor="ctr">
                    <a:solidFill>
                      <a:srgbClr val="1E293B"/>
                    </a:solidFill>
                  </a:tcPr>
                </a:tc>
                <a:tc>
                  <a:txBody>
                    <a:bodyPr wrap="square"/>
                    <a:lstStyle/>
                    <a:p>
                      <a:pPr algn="l"/>
                      <a:r>
                        <a:rPr sz="980" b="0">
                          <a:solidFill>
                            <a:srgbClr val="F1F5F9"/>
                          </a:solidFill>
                          <a:latin typeface="Calibri"/>
                        </a:rPr>
                        <a:t>Materials &amp; tooling coverage is a superset of the 77-paper corpus (Inconel 718, Ti-6Al-4V, C45, 42CrMo4, 316, Al 6061/7075, FG 15)</a:t>
                      </a:r>
                    </a:p>
                  </a:txBody>
                  <a:tcPr marL="73152" marR="54864" marT="27432" marB="27432" anchor="ctr">
                    <a:solidFill>
                      <a:srgbClr val="1E293B"/>
                    </a:solidFill>
                  </a:tcPr>
                </a:tc>
                <a:tc>
                  <a:txBody>
                    <a:bodyPr wrap="square"/>
                    <a:lstStyle/>
                    <a:p>
                      <a:pPr algn="l"/>
                      <a:r>
                        <a:rPr sz="930" b="0">
                          <a:solidFill>
                            <a:srgbClr val="F1F5F9"/>
                          </a:solidFill>
                          <a:latin typeface="Calibri"/>
                        </a:rPr>
                        <a:t>[P3] §4.2, Table 2</a:t>
                      </a:r>
                    </a:p>
                  </a:txBody>
                  <a:tcPr marL="73152" marR="54864" marT="27432" marB="27432" anchor="ctr">
                    <a:solidFill>
                      <a:srgbClr val="1E293B"/>
                    </a:solidFill>
                  </a:tcPr>
                </a:tc>
              </a:tr>
              <a:tr h="429768">
                <a:tc>
                  <a:txBody>
                    <a:bodyPr wrap="square"/>
                    <a:lstStyle/>
                    <a:p>
                      <a:pPr algn="ctr"/>
                      <a:r>
                        <a:rPr sz="1100" b="0">
                          <a:solidFill>
                            <a:srgbClr val="10B981"/>
                          </a:solidFill>
                          <a:latin typeface="Calibri"/>
                        </a:rPr>
                        <a:t>✅</a:t>
                      </a:r>
                    </a:p>
                  </a:txBody>
                  <a:tcPr marL="73152" marR="54864" marT="27432" marB="27432" anchor="ctr">
                    <a:solidFill>
                      <a:srgbClr val="16202F"/>
                    </a:solidFill>
                  </a:tcPr>
                </a:tc>
                <a:tc>
                  <a:txBody>
                    <a:bodyPr wrap="square"/>
                    <a:lstStyle/>
                    <a:p>
                      <a:pPr algn="l"/>
                      <a:r>
                        <a:rPr sz="980" b="0">
                          <a:solidFill>
                            <a:srgbClr val="F1F5F9"/>
                          </a:solidFill>
                          <a:latin typeface="Calibri"/>
                        </a:rPr>
                        <a:t>Tool-run-grouped splitting + conformal &amp; isotonic calibration exceeds [P2]'s experimental design</a:t>
                      </a:r>
                    </a:p>
                  </a:txBody>
                  <a:tcPr marL="73152" marR="54864" marT="27432" marB="27432" anchor="ctr">
                    <a:solidFill>
                      <a:srgbClr val="16202F"/>
                    </a:solidFill>
                  </a:tcPr>
                </a:tc>
                <a:tc>
                  <a:txBody>
                    <a:bodyPr wrap="square"/>
                    <a:lstStyle/>
                    <a:p>
                      <a:pPr algn="l"/>
                      <a:r>
                        <a:rPr sz="930" b="0">
                          <a:solidFill>
                            <a:srgbClr val="F1F5F9"/>
                          </a:solidFill>
                          <a:latin typeface="Calibri"/>
                        </a:rPr>
                        <a:t>[P2] §III.B</a:t>
                      </a:r>
                    </a:p>
                  </a:txBody>
                  <a:tcPr marL="73152" marR="54864" marT="27432" marB="27432" anchor="ctr">
                    <a:solidFill>
                      <a:srgbClr val="16202F"/>
                    </a:solidFill>
                  </a:tcPr>
                </a:tc>
              </a:tr>
              <a:tr h="429768">
                <a:tc>
                  <a:txBody>
                    <a:bodyPr wrap="square"/>
                    <a:lstStyle/>
                    <a:p>
                      <a:pPr algn="ctr"/>
                      <a:r>
                        <a:rPr sz="1100" b="0">
                          <a:solidFill>
                            <a:srgbClr val="F59E0B"/>
                          </a:solidFill>
                          <a:latin typeface="Calibri"/>
                        </a:rPr>
                        <a:t>⚠️</a:t>
                      </a:r>
                    </a:p>
                  </a:txBody>
                  <a:tcPr marL="73152" marR="54864" marT="27432" marB="27432" anchor="ctr">
                    <a:solidFill>
                      <a:srgbClr val="1E293B"/>
                    </a:solidFill>
                  </a:tcPr>
                </a:tc>
                <a:tc>
                  <a:txBody>
                    <a:bodyPr wrap="square"/>
                    <a:lstStyle/>
                    <a:p>
                      <a:pPr algn="l"/>
                      <a:r>
                        <a:rPr sz="980" b="0">
                          <a:solidFill>
                            <a:srgbClr val="F1F5F9"/>
                          </a:solidFill>
                          <a:latin typeface="Calibri"/>
                        </a:rPr>
                        <a:t>Dashboard bands (0.15 / 0.25 / 0.30) do not match validated stages (0.05 / 0.15 / 0.20); simulated VB overshoots to 0.47 mm</a:t>
                      </a:r>
                    </a:p>
                  </a:txBody>
                  <a:tcPr marL="73152" marR="54864" marT="27432" marB="27432" anchor="ctr">
                    <a:solidFill>
                      <a:srgbClr val="1E293B"/>
                    </a:solidFill>
                  </a:tcPr>
                </a:tc>
                <a:tc>
                  <a:txBody>
                    <a:bodyPr wrap="square"/>
                    <a:lstStyle/>
                    <a:p>
                      <a:pPr algn="l"/>
                      <a:r>
                        <a:rPr sz="930" b="0">
                          <a:solidFill>
                            <a:srgbClr val="F1F5F9"/>
                          </a:solidFill>
                          <a:latin typeface="Calibri"/>
                        </a:rPr>
                        <a:t>[P2] §III.C</a:t>
                      </a:r>
                    </a:p>
                  </a:txBody>
                  <a:tcPr marL="73152" marR="54864" marT="27432" marB="27432" anchor="ctr">
                    <a:solidFill>
                      <a:srgbClr val="1E293B"/>
                    </a:solidFill>
                  </a:tcPr>
                </a:tc>
              </a:tr>
              <a:tr h="429768">
                <a:tc>
                  <a:txBody>
                    <a:bodyPr wrap="square"/>
                    <a:lstStyle/>
                    <a:p>
                      <a:pPr algn="ctr"/>
                      <a:r>
                        <a:rPr sz="1100" b="0">
                          <a:solidFill>
                            <a:srgbClr val="EF4444"/>
                          </a:solidFill>
                          <a:latin typeface="Calibri"/>
                        </a:rPr>
                        <a:t>❌</a:t>
                      </a:r>
                    </a:p>
                  </a:txBody>
                  <a:tcPr marL="73152" marR="54864" marT="27432" marB="27432" anchor="ctr">
                    <a:solidFill>
                      <a:srgbClr val="16202F"/>
                    </a:solidFill>
                  </a:tcPr>
                </a:tc>
                <a:tc>
                  <a:txBody>
                    <a:bodyPr wrap="square"/>
                    <a:lstStyle/>
                    <a:p>
                      <a:pPr algn="l"/>
                      <a:r>
                        <a:rPr sz="980" b="0">
                          <a:solidFill>
                            <a:srgbClr val="F1F5F9"/>
                          </a:solidFill>
                          <a:latin typeface="Calibri"/>
                        </a:rPr>
                        <a:t>No measured sensor signal — 0.0083 Hz telemetry vs [P2]'s 1–5 kHz; spindle power is computed, not sensed</a:t>
                      </a:r>
                    </a:p>
                  </a:txBody>
                  <a:tcPr marL="73152" marR="54864" marT="27432" marB="27432" anchor="ctr">
                    <a:solidFill>
                      <a:srgbClr val="16202F"/>
                    </a:solidFill>
                  </a:tcPr>
                </a:tc>
                <a:tc>
                  <a:txBody>
                    <a:bodyPr wrap="square"/>
                    <a:lstStyle/>
                    <a:p>
                      <a:pPr algn="l"/>
                      <a:r>
                        <a:rPr sz="930" b="0">
                          <a:solidFill>
                            <a:srgbClr val="F1F5F9"/>
                          </a:solidFill>
                          <a:latin typeface="Calibri"/>
                        </a:rPr>
                        <a:t>[P3] §4.4 · [P2] §III.A</a:t>
                      </a:r>
                    </a:p>
                  </a:txBody>
                  <a:tcPr marL="73152" marR="54864" marT="27432" marB="27432" anchor="ctr">
                    <a:solidFill>
                      <a:srgbClr val="16202F"/>
                    </a:solidFill>
                  </a:tcPr>
                </a:tc>
              </a:tr>
              <a:tr h="429768">
                <a:tc>
                  <a:txBody>
                    <a:bodyPr wrap="square"/>
                    <a:lstStyle/>
                    <a:p>
                      <a:pPr algn="ctr"/>
                      <a:r>
                        <a:rPr sz="1100" b="0">
                          <a:solidFill>
                            <a:srgbClr val="EF4444"/>
                          </a:solidFill>
                          <a:latin typeface="Calibri"/>
                        </a:rPr>
                        <a:t>❌</a:t>
                      </a:r>
                    </a:p>
                  </a:txBody>
                  <a:tcPr marL="73152" marR="54864" marT="27432" marB="27432" anchor="ctr">
                    <a:solidFill>
                      <a:srgbClr val="1E293B"/>
                    </a:solidFill>
                  </a:tcPr>
                </a:tc>
                <a:tc>
                  <a:txBody>
                    <a:bodyPr wrap="square"/>
                    <a:lstStyle/>
                    <a:p>
                      <a:pPr algn="l"/>
                      <a:r>
                        <a:rPr sz="980" b="0">
                          <a:solidFill>
                            <a:srgbClr val="F1F5F9"/>
                          </a:solidFill>
                          <a:latin typeface="Calibri"/>
                        </a:rPr>
                        <a:t>MAE / RMSE computable but never displayed; nine citable economic figures unused</a:t>
                      </a:r>
                    </a:p>
                  </a:txBody>
                  <a:tcPr marL="73152" marR="54864" marT="27432" marB="27432" anchor="ctr">
                    <a:solidFill>
                      <a:srgbClr val="1E293B"/>
                    </a:solidFill>
                  </a:tcPr>
                </a:tc>
                <a:tc>
                  <a:txBody>
                    <a:bodyPr wrap="square"/>
                    <a:lstStyle/>
                    <a:p>
                      <a:pPr algn="l"/>
                      <a:r>
                        <a:rPr sz="930" b="0">
                          <a:solidFill>
                            <a:srgbClr val="F1F5F9"/>
                          </a:solidFill>
                          <a:latin typeface="Calibri"/>
                        </a:rPr>
                        <a:t>[P2] Table I · [P3] §4.6.4, §1</a:t>
                      </a:r>
                    </a:p>
                  </a:txBody>
                  <a:tcPr marL="73152" marR="54864" marT="27432" marB="27432" anchor="ctr">
                    <a:solidFill>
                      <a:srgbClr val="1E293B"/>
                    </a:solidFill>
                  </a:tcPr>
                </a:tc>
              </a:tr>
            </a:tbl>
          </a:graphicData>
        </a:graphic>
      </p:graphicFrame>
      <p:sp>
        <p:nvSpPr>
          <p:cNvPr id="7" name="Rounded Rectangle 6"/>
          <p:cNvSpPr/>
          <p:nvPr/>
        </p:nvSpPr>
        <p:spPr>
          <a:xfrm>
            <a:off x="502920" y="5650992"/>
            <a:ext cx="11201400" cy="676656"/>
          </a:xfrm>
          <a:prstGeom prst="roundRect">
            <a:avLst/>
          </a:prstGeom>
          <a:solidFill>
            <a:srgbClr val="16202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91440" bIns="73152"/>
          <a:lstStyle/>
          <a:p>
            <a:pPr algn="l">
              <a:spcBef>
                <a:spcPts val="0"/>
              </a:spcBef>
              <a:spcAft>
                <a:spcPts val="0"/>
              </a:spcAft>
            </a:pPr>
            <a:r>
              <a:rPr sz="1100" b="1" i="0">
                <a:solidFill>
                  <a:srgbClr val="F1F5F9"/>
                </a:solidFill>
                <a:latin typeface="Calibri"/>
              </a:rPr>
              <a:t>AUDIT VERDICT:  ⚠ PARTIALLY VALIDATED — 2.7 / 5.   Core methods and the output contract align with the literature; structural gaps remain (sensing, external benchmarks). No instance was found in which the system contradicts any of the three papers.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02920" y="292608"/>
            <a:ext cx="10058400" cy="1051560"/>
          </a:xfrm>
          <a:prstGeom prst="rect">
            <a:avLst/>
          </a:prstGeom>
          <a:noFill/>
        </p:spPr>
        <p:txBody>
          <a:bodyPr wrap="square" lIns="0" rIns="0" tIns="0" bIns="0">
            <a:spAutoFit/>
          </a:bodyPr>
          <a:lstStyle/>
          <a:p>
            <a:pPr algn="l">
              <a:spcBef>
                <a:spcPts val="0"/>
              </a:spcBef>
              <a:spcAft>
                <a:spcPts val="300"/>
              </a:spcAft>
            </a:pPr>
            <a:r>
              <a:rPr sz="1000" b="1" i="0">
                <a:solidFill>
                  <a:srgbClr val="3B82F6"/>
                </a:solidFill>
                <a:latin typeface="Calibri"/>
              </a:rPr>
              <a:t>SECTION 6 — CLOSING</a:t>
            </a:r>
          </a:p>
          <a:p>
            <a:pPr algn="l">
              <a:spcBef>
                <a:spcPts val="0"/>
              </a:spcBef>
              <a:spcAft>
                <a:spcPts val="0"/>
              </a:spcAft>
            </a:pPr>
            <a:r>
              <a:rPr sz="2600" b="1" i="0">
                <a:solidFill>
                  <a:srgbClr val="F1F5F9"/>
                </a:solidFill>
                <a:latin typeface="Calibri"/>
              </a:rPr>
              <a:t>Conclusions &amp; Future Work</a:t>
            </a:r>
          </a:p>
        </p:txBody>
      </p:sp>
      <p:sp>
        <p:nvSpPr>
          <p:cNvPr id="3" name="Rectangle 2"/>
          <p:cNvSpPr/>
          <p:nvPr/>
        </p:nvSpPr>
        <p:spPr>
          <a:xfrm>
            <a:off x="521207" y="1170432"/>
            <a:ext cx="1920240" cy="2794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73952"/>
            <a:ext cx="8686800" cy="292608"/>
          </a:xfrm>
          <a:prstGeom prst="rect">
            <a:avLst/>
          </a:prstGeom>
          <a:noFill/>
        </p:spPr>
        <p:txBody>
          <a:bodyPr wrap="square" lIns="0" rIns="0" tIns="0" bIns="0">
            <a:spAutoFit/>
          </a:bodyPr>
          <a:lstStyle/>
          <a:p>
            <a:pPr algn="l">
              <a:spcBef>
                <a:spcPts val="0"/>
              </a:spcBef>
              <a:spcAft>
                <a:spcPts val="0"/>
              </a:spcAft>
            </a:pPr>
            <a:r>
              <a:rPr sz="850" b="0" i="0">
                <a:solidFill>
                  <a:srgbClr val="94A3B8"/>
                </a:solidFill>
                <a:latin typeface="Calibri"/>
              </a:rPr>
              <a:t>CNC Tool Wear Prediction And Scrap Risk Signal  ·  academic project  ·  Oct 2026</a:t>
            </a:r>
          </a:p>
        </p:txBody>
      </p:sp>
      <p:sp>
        <p:nvSpPr>
          <p:cNvPr id="5" name="TextBox 4"/>
          <p:cNvSpPr txBox="1"/>
          <p:nvPr/>
        </p:nvSpPr>
        <p:spPr>
          <a:xfrm>
            <a:off x="10972800" y="6473952"/>
            <a:ext cx="777240" cy="292608"/>
          </a:xfrm>
          <a:prstGeom prst="rect">
            <a:avLst/>
          </a:prstGeom>
          <a:noFill/>
        </p:spPr>
        <p:txBody>
          <a:bodyPr wrap="square" lIns="0" rIns="0" tIns="0" bIns="0">
            <a:spAutoFit/>
          </a:bodyPr>
          <a:lstStyle/>
          <a:p>
            <a:pPr algn="r">
              <a:spcBef>
                <a:spcPts val="0"/>
              </a:spcBef>
              <a:spcAft>
                <a:spcPts val="0"/>
              </a:spcAft>
            </a:pPr>
            <a:r>
              <a:rPr sz="850" b="0" i="0">
                <a:solidFill>
                  <a:srgbClr val="94A3B8"/>
                </a:solidFill>
                <a:latin typeface="Calibri"/>
              </a:rPr>
              <a:t>9 / 10</a:t>
            </a:r>
          </a:p>
        </p:txBody>
      </p:sp>
      <p:sp>
        <p:nvSpPr>
          <p:cNvPr id="6" name="TextBox 5"/>
          <p:cNvSpPr txBox="1"/>
          <p:nvPr/>
        </p:nvSpPr>
        <p:spPr>
          <a:xfrm>
            <a:off x="502920" y="1463040"/>
            <a:ext cx="7040880" cy="2377440"/>
          </a:xfrm>
          <a:prstGeom prst="rect">
            <a:avLst/>
          </a:prstGeom>
          <a:noFill/>
        </p:spPr>
        <p:txBody>
          <a:bodyPr wrap="square" lIns="0" rIns="0" tIns="0" bIns="0">
            <a:spAutoFit/>
          </a:bodyPr>
          <a:lstStyle/>
          <a:p>
            <a:pPr algn="l">
              <a:spcBef>
                <a:spcPts val="0"/>
              </a:spcBef>
              <a:spcAft>
                <a:spcPts val="500"/>
              </a:spcAft>
            </a:pPr>
            <a:r>
              <a:rPr sz="1200" b="1" i="0">
                <a:solidFill>
                  <a:srgbClr val="10B981"/>
                </a:solidFill>
                <a:latin typeface="Calibri"/>
              </a:rPr>
              <a:t>CONCLUSIONS</a:t>
            </a:r>
          </a:p>
          <a:p>
            <a:pPr algn="l">
              <a:spcBef>
                <a:spcPts val="0"/>
              </a:spcBef>
              <a:spcAft>
                <a:spcPts val="500"/>
              </a:spcAft>
            </a:pPr>
            <a:r>
              <a:rPr sz="1250" b="1">
                <a:solidFill>
                  <a:srgbClr val="10B981"/>
                </a:solidFill>
                <a:latin typeface="Calibri"/>
              </a:rPr>
              <a:t>▸  </a:t>
            </a:r>
            <a:r>
              <a:rPr sz="1250">
                <a:solidFill>
                  <a:srgbClr val="F1F5F9"/>
                </a:solidFill>
                <a:latin typeface="Calibri"/>
              </a:rPr>
              <a:t>A physics + ML hybrid MVP delivers operator-grade wear and scrap-risk signals with statistically honest, calibrated uncertainty — a stronger posture than point-estimate baselines.</a:t>
            </a:r>
          </a:p>
          <a:p>
            <a:pPr algn="l">
              <a:spcBef>
                <a:spcPts val="0"/>
              </a:spcBef>
              <a:spcAft>
                <a:spcPts val="500"/>
              </a:spcAft>
            </a:pPr>
            <a:r>
              <a:rPr sz="1250" b="1">
                <a:solidFill>
                  <a:srgbClr val="10B981"/>
                </a:solidFill>
                <a:latin typeface="Calibri"/>
              </a:rPr>
              <a:t>▸  </a:t>
            </a:r>
            <a:r>
              <a:rPr sz="1250">
                <a:solidFill>
                  <a:srgbClr val="F1F5F9"/>
                </a:solidFill>
                <a:latin typeface="Calibri"/>
              </a:rPr>
              <a:t>The output contract is literature-aligned: VB metric, exact ISO 3685 anchor, three-stage wear shape, material/tooling superset, leakage-safe splits.</a:t>
            </a:r>
          </a:p>
          <a:p>
            <a:pPr algn="l">
              <a:spcBef>
                <a:spcPts val="0"/>
              </a:spcBef>
              <a:spcAft>
                <a:spcPts val="0"/>
              </a:spcAft>
            </a:pPr>
            <a:r>
              <a:rPr sz="1250" b="1">
                <a:solidFill>
                  <a:srgbClr val="F59E0B"/>
                </a:solidFill>
                <a:latin typeface="Calibri"/>
              </a:rPr>
              <a:t>▸  </a:t>
            </a:r>
            <a:r>
              <a:rPr sz="1250">
                <a:solidFill>
                  <a:srgbClr val="F1F5F9"/>
                </a:solidFill>
                <a:latin typeface="Calibri"/>
              </a:rPr>
              <a:t>Remaining gaps are structural and openly disclosed: no measured sensing, self-referential accuracy, hidden MAE/RMSE, absent economic framing — each with a concrete fix.</a:t>
            </a:r>
          </a:p>
        </p:txBody>
      </p:sp>
      <p:sp>
        <p:nvSpPr>
          <p:cNvPr id="7" name="TextBox 6"/>
          <p:cNvSpPr txBox="1"/>
          <p:nvPr/>
        </p:nvSpPr>
        <p:spPr>
          <a:xfrm>
            <a:off x="502920" y="3977639"/>
            <a:ext cx="7040880" cy="2286000"/>
          </a:xfrm>
          <a:prstGeom prst="rect">
            <a:avLst/>
          </a:prstGeom>
          <a:noFill/>
        </p:spPr>
        <p:txBody>
          <a:bodyPr wrap="square" lIns="0" rIns="0" tIns="0" bIns="0">
            <a:spAutoFit/>
          </a:bodyPr>
          <a:lstStyle/>
          <a:p>
            <a:pPr algn="l">
              <a:spcBef>
                <a:spcPts val="0"/>
              </a:spcBef>
              <a:spcAft>
                <a:spcPts val="500"/>
              </a:spcAft>
            </a:pPr>
            <a:r>
              <a:rPr sz="1200" b="1" i="0">
                <a:solidFill>
                  <a:srgbClr val="3B82F6"/>
                </a:solidFill>
                <a:latin typeface="Calibri"/>
              </a:rPr>
              <a:t>FUTURE-WORK ROADMAP</a:t>
            </a:r>
          </a:p>
          <a:p>
            <a:pPr algn="l">
              <a:spcBef>
                <a:spcPts val="0"/>
              </a:spcBef>
              <a:spcAft>
                <a:spcPts val="400"/>
              </a:spcAft>
            </a:pPr>
            <a:r>
              <a:rPr sz="1080" b="1">
                <a:solidFill>
                  <a:srgbClr val="3B82F6"/>
                </a:solidFill>
                <a:latin typeface="Calibri"/>
              </a:rPr>
              <a:t>1.  </a:t>
            </a:r>
            <a:r>
              <a:rPr sz="1080">
                <a:solidFill>
                  <a:srgbClr val="F1F5F9"/>
                </a:solidFill>
                <a:latin typeface="Calibri"/>
              </a:rPr>
              <a:t>Benchmark on the public PHM 2010 corpus (WC-Co on Inconel 718, 5 kHz) for a genuine comparison against [P2] Table I.</a:t>
            </a:r>
          </a:p>
          <a:p>
            <a:pPr algn="l">
              <a:spcBef>
                <a:spcPts val="0"/>
              </a:spcBef>
              <a:spcAft>
                <a:spcPts val="400"/>
              </a:spcAft>
            </a:pPr>
            <a:r>
              <a:rPr sz="1080" b="1">
                <a:solidFill>
                  <a:srgbClr val="3B82F6"/>
                </a:solidFill>
                <a:latin typeface="Calibri"/>
              </a:rPr>
              <a:t>2.  </a:t>
            </a:r>
            <a:r>
              <a:rPr sz="1080">
                <a:solidFill>
                  <a:srgbClr val="F1F5F9"/>
                </a:solidFill>
                <a:latin typeface="Calibri"/>
              </a:rPr>
              <a:t>Ingest one measured channel — spindle current/power, the cheapest validated sensor class [P3 §4.4.5, §6.2].</a:t>
            </a:r>
          </a:p>
          <a:p>
            <a:pPr algn="l">
              <a:spcBef>
                <a:spcPts val="0"/>
              </a:spcBef>
              <a:spcAft>
                <a:spcPts val="400"/>
              </a:spcAft>
            </a:pPr>
            <a:r>
              <a:rPr sz="1080" b="1">
                <a:solidFill>
                  <a:srgbClr val="3B82F6"/>
                </a:solidFill>
                <a:latin typeface="Calibri"/>
              </a:rPr>
              <a:t>3.  </a:t>
            </a:r>
            <a:r>
              <a:rPr sz="1080">
                <a:solidFill>
                  <a:srgbClr val="F1F5F9"/>
                </a:solidFill>
                <a:latin typeface="Calibri"/>
              </a:rPr>
              <a:t>Surface MAE / RMSE / wear-level accuracy in-app and overlay [P2]'s 0.05 / 0.15 / 0.20 stage boundaries.</a:t>
            </a:r>
          </a:p>
          <a:p>
            <a:pPr algn="l">
              <a:spcBef>
                <a:spcPts val="0"/>
              </a:spcBef>
              <a:spcAft>
                <a:spcPts val="400"/>
              </a:spcAft>
            </a:pPr>
            <a:r>
              <a:rPr sz="1080" b="1">
                <a:solidFill>
                  <a:srgbClr val="3B82F6"/>
                </a:solidFill>
                <a:latin typeface="Calibri"/>
              </a:rPr>
              <a:t>4.  </a:t>
            </a:r>
            <a:r>
              <a:rPr sz="1080">
                <a:solidFill>
                  <a:srgbClr val="F1F5F9"/>
                </a:solidFill>
                <a:latin typeface="Calibri"/>
              </a:rPr>
              <a:t>Add the economic-justification panel: 3–12 % tool cost, ≈20 % nonproduction time, &gt;35 % malfunctions, 10–50 / 75 / 30 % TCM benefits.</a:t>
            </a:r>
          </a:p>
          <a:p>
            <a:pPr algn="l">
              <a:spcBef>
                <a:spcPts val="0"/>
              </a:spcBef>
              <a:spcAft>
                <a:spcPts val="400"/>
              </a:spcAft>
            </a:pPr>
            <a:r>
              <a:rPr sz="1080" b="1">
                <a:solidFill>
                  <a:srgbClr val="3B82F6"/>
                </a:solidFill>
                <a:latin typeface="Calibri"/>
              </a:rPr>
              <a:t>5.  </a:t>
            </a:r>
            <a:r>
              <a:rPr sz="1080">
                <a:solidFill>
                  <a:srgbClr val="F1F5F9"/>
                </a:solidFill>
                <a:latin typeface="Calibri"/>
              </a:rPr>
              <a:t>Persist full-precision artifacts and move toward edge deployment with live signal ingest.</a:t>
            </a:r>
          </a:p>
        </p:txBody>
      </p:sp>
      <p:pic>
        <p:nvPicPr>
          <p:cNvPr id="8" name="Picture 7" descr="sensor_retrofit.jpg"/>
          <p:cNvPicPr>
            <a:picLocks noChangeAspect="1"/>
          </p:cNvPicPr>
          <p:nvPr/>
        </p:nvPicPr>
        <p:blipFill>
          <a:blip r:embed="rId2"/>
          <a:srcRect l="13203" r="13203"/>
          <a:stretch>
            <a:fillRect/>
          </a:stretch>
        </p:blipFill>
        <p:spPr>
          <a:xfrm>
            <a:off x="7818120" y="1463040"/>
            <a:ext cx="3886200" cy="2880360"/>
          </a:xfrm>
          <a:prstGeom prst="rect">
            <a:avLst/>
          </a:prstGeom>
        </p:spPr>
      </p:pic>
      <p:sp>
        <p:nvSpPr>
          <p:cNvPr id="9" name="TextBox 8"/>
          <p:cNvSpPr txBox="1"/>
          <p:nvPr/>
        </p:nvSpPr>
        <p:spPr>
          <a:xfrm>
            <a:off x="7818120" y="4434840"/>
            <a:ext cx="3886200" cy="1737360"/>
          </a:xfrm>
          <a:prstGeom prst="rect">
            <a:avLst/>
          </a:prstGeom>
          <a:noFill/>
        </p:spPr>
        <p:txBody>
          <a:bodyPr wrap="square" lIns="0" rIns="0" tIns="0" bIns="0">
            <a:spAutoFit/>
          </a:bodyPr>
          <a:lstStyle/>
          <a:p>
            <a:pPr algn="l">
              <a:spcBef>
                <a:spcPts val="0"/>
              </a:spcBef>
              <a:spcAft>
                <a:spcPts val="0"/>
              </a:spcAft>
            </a:pPr>
            <a:r>
              <a:rPr sz="900" b="0" i="1">
                <a:solidFill>
                  <a:srgbClr val="94A3B8"/>
                </a:solidFill>
                <a:latin typeface="Calibri"/>
              </a:rPr>
              <a:t>Roadmap item 2: retrofit condition monitoring. [P3] shows spindle current/power is non-invasive and “far less expensive” than dynamometry — the pragmatic first channel for a student lab.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02920" y="292608"/>
            <a:ext cx="10058400" cy="1051560"/>
          </a:xfrm>
          <a:prstGeom prst="rect">
            <a:avLst/>
          </a:prstGeom>
          <a:noFill/>
        </p:spPr>
        <p:txBody>
          <a:bodyPr wrap="square" lIns="0" rIns="0" tIns="0" bIns="0">
            <a:spAutoFit/>
          </a:bodyPr>
          <a:lstStyle/>
          <a:p>
            <a:pPr algn="l">
              <a:spcBef>
                <a:spcPts val="0"/>
              </a:spcBef>
              <a:spcAft>
                <a:spcPts val="300"/>
              </a:spcAft>
            </a:pPr>
            <a:r>
              <a:rPr sz="1000" b="1" i="0">
                <a:solidFill>
                  <a:srgbClr val="3B82F6"/>
                </a:solidFill>
                <a:latin typeface="Calibri"/>
              </a:rPr>
              <a:t>SECTION 7 — TEAM</a:t>
            </a:r>
          </a:p>
          <a:p>
            <a:pPr algn="l">
              <a:spcBef>
                <a:spcPts val="0"/>
              </a:spcBef>
              <a:spcAft>
                <a:spcPts val="0"/>
              </a:spcAft>
            </a:pPr>
            <a:r>
              <a:rPr sz="2600" b="1" i="0">
                <a:solidFill>
                  <a:srgbClr val="F1F5F9"/>
                </a:solidFill>
                <a:latin typeface="Calibri"/>
              </a:rPr>
              <a:t>Project Team, References &amp; Acknowledgements</a:t>
            </a:r>
          </a:p>
        </p:txBody>
      </p:sp>
      <p:sp>
        <p:nvSpPr>
          <p:cNvPr id="3" name="Rectangle 2"/>
          <p:cNvSpPr/>
          <p:nvPr/>
        </p:nvSpPr>
        <p:spPr>
          <a:xfrm>
            <a:off x="521207" y="1170432"/>
            <a:ext cx="1920240" cy="2794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73952"/>
            <a:ext cx="8686800" cy="292608"/>
          </a:xfrm>
          <a:prstGeom prst="rect">
            <a:avLst/>
          </a:prstGeom>
          <a:noFill/>
        </p:spPr>
        <p:txBody>
          <a:bodyPr wrap="square" lIns="0" rIns="0" tIns="0" bIns="0">
            <a:spAutoFit/>
          </a:bodyPr>
          <a:lstStyle/>
          <a:p>
            <a:pPr algn="l">
              <a:spcBef>
                <a:spcPts val="0"/>
              </a:spcBef>
              <a:spcAft>
                <a:spcPts val="0"/>
              </a:spcAft>
            </a:pPr>
            <a:r>
              <a:rPr sz="850" b="0" i="0">
                <a:solidFill>
                  <a:srgbClr val="94A3B8"/>
                </a:solidFill>
                <a:latin typeface="Calibri"/>
              </a:rPr>
              <a:t>CNC Tool Wear Prediction And Scrap Risk Signal  ·  academic project  ·  Oct 2026</a:t>
            </a:r>
          </a:p>
        </p:txBody>
      </p:sp>
      <p:sp>
        <p:nvSpPr>
          <p:cNvPr id="5" name="TextBox 4"/>
          <p:cNvSpPr txBox="1"/>
          <p:nvPr/>
        </p:nvSpPr>
        <p:spPr>
          <a:xfrm>
            <a:off x="10972800" y="6473952"/>
            <a:ext cx="777240" cy="292608"/>
          </a:xfrm>
          <a:prstGeom prst="rect">
            <a:avLst/>
          </a:prstGeom>
          <a:noFill/>
        </p:spPr>
        <p:txBody>
          <a:bodyPr wrap="square" lIns="0" rIns="0" tIns="0" bIns="0">
            <a:spAutoFit/>
          </a:bodyPr>
          <a:lstStyle/>
          <a:p>
            <a:pPr algn="r">
              <a:spcBef>
                <a:spcPts val="0"/>
              </a:spcBef>
              <a:spcAft>
                <a:spcPts val="0"/>
              </a:spcAft>
            </a:pPr>
            <a:r>
              <a:rPr sz="850" b="0" i="0">
                <a:solidFill>
                  <a:srgbClr val="94A3B8"/>
                </a:solidFill>
                <a:latin typeface="Calibri"/>
              </a:rPr>
              <a:t>10 / 10</a:t>
            </a:r>
          </a:p>
        </p:txBody>
      </p:sp>
      <p:sp>
        <p:nvSpPr>
          <p:cNvPr id="6" name="TextBox 5"/>
          <p:cNvSpPr txBox="1"/>
          <p:nvPr/>
        </p:nvSpPr>
        <p:spPr>
          <a:xfrm>
            <a:off x="502920" y="1481328"/>
            <a:ext cx="5394960" cy="457200"/>
          </a:xfrm>
          <a:prstGeom prst="rect">
            <a:avLst/>
          </a:prstGeom>
          <a:noFill/>
        </p:spPr>
        <p:txBody>
          <a:bodyPr wrap="square" lIns="0" rIns="0" tIns="0" bIns="0">
            <a:spAutoFit/>
          </a:bodyPr>
          <a:lstStyle/>
          <a:p>
            <a:pPr algn="l">
              <a:spcBef>
                <a:spcPts val="0"/>
              </a:spcBef>
              <a:spcAft>
                <a:spcPts val="500"/>
              </a:spcAft>
            </a:pPr>
            <a:r>
              <a:rPr sz="1200" b="1" i="0">
                <a:solidFill>
                  <a:srgbClr val="3B82F6"/>
                </a:solidFill>
                <a:latin typeface="Calibri"/>
              </a:rPr>
              <a:t>TEAM MEMBERS</a:t>
            </a:r>
          </a:p>
        </p:txBody>
      </p:sp>
      <p:graphicFrame>
        <p:nvGraphicFramePr>
          <p:cNvPr id="7" name="Table 6"/>
          <p:cNvGraphicFramePr>
            <a:graphicFrameLocks noGrp="1"/>
          </p:cNvGraphicFramePr>
          <p:nvPr/>
        </p:nvGraphicFramePr>
        <p:xfrm>
          <a:off x="502920" y="1874519"/>
          <a:ext cx="5394960" cy="1682496"/>
        </p:xfrm>
        <a:graphic>
          <a:graphicData uri="http://schemas.openxmlformats.org/drawingml/2006/table">
            <a:tbl>
              <a:tblPr>
                <a:tableStyleId>{5C22544A-7EE6-4342-B048-85BDC9FD1C3A}</a:tableStyleId>
              </a:tblPr>
              <a:tblGrid>
                <a:gridCol w="3017520"/>
                <a:gridCol w="2377440"/>
              </a:tblGrid>
              <a:tr h="420624">
                <a:tc>
                  <a:txBody>
                    <a:bodyPr wrap="square"/>
                    <a:lstStyle/>
                    <a:p>
                      <a:pPr algn="l"/>
                      <a:r>
                        <a:rPr sz="1050" b="1">
                          <a:solidFill>
                            <a:srgbClr val="F1F5F9"/>
                          </a:solidFill>
                          <a:latin typeface="Calibri"/>
                        </a:rPr>
                        <a:t>Team Member</a:t>
                      </a:r>
                    </a:p>
                  </a:txBody>
                  <a:tcPr marL="73152" marR="54864" marT="27432" marB="27432" anchor="ctr">
                    <a:solidFill>
                      <a:srgbClr val="1E293B"/>
                    </a:solidFill>
                  </a:tcPr>
                </a:tc>
                <a:tc>
                  <a:txBody>
                    <a:bodyPr wrap="square"/>
                    <a:lstStyle/>
                    <a:p>
                      <a:pPr algn="l"/>
                      <a:r>
                        <a:rPr sz="1050" b="1">
                          <a:solidFill>
                            <a:srgbClr val="F1F5F9"/>
                          </a:solidFill>
                          <a:latin typeface="Calibri"/>
                        </a:rPr>
                        <a:t>Roll Number</a:t>
                      </a:r>
                    </a:p>
                  </a:txBody>
                  <a:tcPr marL="73152" marR="54864" marT="27432" marB="27432" anchor="ctr">
                    <a:solidFill>
                      <a:srgbClr val="1E293B"/>
                    </a:solidFill>
                  </a:tcPr>
                </a:tc>
              </a:tr>
              <a:tr h="420624">
                <a:tc>
                  <a:txBody>
                    <a:bodyPr wrap="square"/>
                    <a:lstStyle/>
                    <a:p>
                      <a:pPr algn="l"/>
                      <a:r>
                        <a:rPr sz="1050" b="1">
                          <a:solidFill>
                            <a:srgbClr val="F1F5F9"/>
                          </a:solidFill>
                          <a:latin typeface="Calibri"/>
                        </a:rPr>
                        <a:t>Arvapalli Sai Adarsh</a:t>
                      </a:r>
                    </a:p>
                  </a:txBody>
                  <a:tcPr marL="73152" marR="54864" marT="27432" marB="27432" anchor="ctr">
                    <a:solidFill>
                      <a:srgbClr val="16202F"/>
                    </a:solidFill>
                  </a:tcPr>
                </a:tc>
                <a:tc>
                  <a:txBody>
                    <a:bodyPr wrap="square"/>
                    <a:lstStyle/>
                    <a:p>
                      <a:pPr algn="l"/>
                      <a:r>
                        <a:rPr sz="1050" b="0">
                          <a:solidFill>
                            <a:srgbClr val="F1F5F9"/>
                          </a:solidFill>
                          <a:latin typeface="Calibri"/>
                        </a:rPr>
                        <a:t>1602-24-736-039</a:t>
                      </a:r>
                    </a:p>
                  </a:txBody>
                  <a:tcPr marL="73152" marR="54864" marT="27432" marB="27432" anchor="ctr">
                    <a:solidFill>
                      <a:srgbClr val="16202F"/>
                    </a:solidFill>
                  </a:tcPr>
                </a:tc>
              </a:tr>
              <a:tr h="420624">
                <a:tc>
                  <a:txBody>
                    <a:bodyPr wrap="square"/>
                    <a:lstStyle/>
                    <a:p>
                      <a:pPr algn="l"/>
                      <a:r>
                        <a:rPr sz="1050" b="1">
                          <a:solidFill>
                            <a:srgbClr val="F1F5F9"/>
                          </a:solidFill>
                          <a:latin typeface="Calibri"/>
                        </a:rPr>
                        <a:t>A. Meghana</a:t>
                      </a:r>
                    </a:p>
                  </a:txBody>
                  <a:tcPr marL="73152" marR="54864" marT="27432" marB="27432" anchor="ctr">
                    <a:solidFill>
                      <a:srgbClr val="1E293B"/>
                    </a:solidFill>
                  </a:tcPr>
                </a:tc>
                <a:tc>
                  <a:txBody>
                    <a:bodyPr wrap="square"/>
                    <a:lstStyle/>
                    <a:p>
                      <a:pPr algn="l"/>
                      <a:r>
                        <a:rPr sz="1050" b="0">
                          <a:solidFill>
                            <a:srgbClr val="F1F5F9"/>
                          </a:solidFill>
                          <a:latin typeface="Calibri"/>
                        </a:rPr>
                        <a:t>1602-24-736-022</a:t>
                      </a:r>
                    </a:p>
                  </a:txBody>
                  <a:tcPr marL="73152" marR="54864" marT="27432" marB="27432" anchor="ctr">
                    <a:solidFill>
                      <a:srgbClr val="1E293B"/>
                    </a:solidFill>
                  </a:tcPr>
                </a:tc>
              </a:tr>
              <a:tr h="420624">
                <a:tc>
                  <a:txBody>
                    <a:bodyPr wrap="square"/>
                    <a:lstStyle/>
                    <a:p>
                      <a:pPr algn="l"/>
                      <a:r>
                        <a:rPr sz="1050" b="1">
                          <a:solidFill>
                            <a:srgbClr val="F1F5F9"/>
                          </a:solidFill>
                          <a:latin typeface="Calibri"/>
                        </a:rPr>
                        <a:t>M. Muzammil</a:t>
                      </a:r>
                    </a:p>
                  </a:txBody>
                  <a:tcPr marL="73152" marR="54864" marT="27432" marB="27432" anchor="ctr">
                    <a:solidFill>
                      <a:srgbClr val="16202F"/>
                    </a:solidFill>
                  </a:tcPr>
                </a:tc>
                <a:tc>
                  <a:txBody>
                    <a:bodyPr wrap="square"/>
                    <a:lstStyle/>
                    <a:p>
                      <a:pPr algn="l"/>
                      <a:r>
                        <a:rPr sz="1050" b="0">
                          <a:solidFill>
                            <a:srgbClr val="F1F5F9"/>
                          </a:solidFill>
                          <a:latin typeface="Calibri"/>
                        </a:rPr>
                        <a:t>1602-24-736-027</a:t>
                      </a:r>
                    </a:p>
                  </a:txBody>
                  <a:tcPr marL="73152" marR="54864" marT="27432" marB="27432" anchor="ctr">
                    <a:solidFill>
                      <a:srgbClr val="16202F"/>
                    </a:solidFill>
                  </a:tcPr>
                </a:tc>
              </a:tr>
            </a:tbl>
          </a:graphicData>
        </a:graphic>
      </p:graphicFrame>
      <p:sp>
        <p:nvSpPr>
          <p:cNvPr id="8" name="TextBox 7"/>
          <p:cNvSpPr txBox="1"/>
          <p:nvPr/>
        </p:nvSpPr>
        <p:spPr>
          <a:xfrm>
            <a:off x="502920" y="3977639"/>
            <a:ext cx="5394960" cy="2103120"/>
          </a:xfrm>
          <a:prstGeom prst="rect">
            <a:avLst/>
          </a:prstGeom>
          <a:noFill/>
        </p:spPr>
        <p:txBody>
          <a:bodyPr wrap="square" lIns="0" rIns="0" tIns="0" bIns="0">
            <a:spAutoFit/>
          </a:bodyPr>
          <a:lstStyle/>
          <a:p>
            <a:pPr algn="l">
              <a:spcBef>
                <a:spcPts val="0"/>
              </a:spcBef>
              <a:spcAft>
                <a:spcPts val="500"/>
              </a:spcAft>
            </a:pPr>
            <a:r>
              <a:rPr sz="1200" b="1" i="0">
                <a:solidFill>
                  <a:srgbClr val="3B82F6"/>
                </a:solidFill>
                <a:latin typeface="Calibri"/>
              </a:rPr>
              <a:t>ACKNOWLEDGEMENTS</a:t>
            </a:r>
          </a:p>
          <a:p>
            <a:pPr algn="l">
              <a:spcBef>
                <a:spcPts val="0"/>
              </a:spcBef>
              <a:spcAft>
                <a:spcPts val="800"/>
              </a:spcAft>
            </a:pPr>
            <a:r>
              <a:rPr sz="1100" b="0" i="0">
                <a:solidFill>
                  <a:srgbClr val="F1F5F9"/>
                </a:solidFill>
                <a:latin typeface="Calibri"/>
              </a:rPr>
              <a:t>The authors thank their project supervisor for guidance and for supplying the three reference papers against which this system was validated, and the reviewers of ASME JCISE, IEEE DAPIC and MDPI JMMP whose published results form the ground truth of this study.</a:t>
            </a:r>
          </a:p>
          <a:p>
            <a:pPr algn="l">
              <a:spcBef>
                <a:spcPts val="0"/>
              </a:spcBef>
              <a:spcAft>
                <a:spcPts val="0"/>
              </a:spcAft>
            </a:pPr>
            <a:r>
              <a:rPr sz="1200" b="1" i="0">
                <a:solidFill>
                  <a:srgbClr val="10B981"/>
                </a:solidFill>
                <a:latin typeface="Calibri"/>
              </a:rPr>
              <a:t>Thank you — questions &amp; discussion are welcome.</a:t>
            </a:r>
          </a:p>
        </p:txBody>
      </p:sp>
      <p:sp>
        <p:nvSpPr>
          <p:cNvPr id="9" name="TextBox 8"/>
          <p:cNvSpPr txBox="1"/>
          <p:nvPr/>
        </p:nvSpPr>
        <p:spPr>
          <a:xfrm>
            <a:off x="6263640" y="1481328"/>
            <a:ext cx="5440680" cy="457200"/>
          </a:xfrm>
          <a:prstGeom prst="rect">
            <a:avLst/>
          </a:prstGeom>
          <a:noFill/>
        </p:spPr>
        <p:txBody>
          <a:bodyPr wrap="square" lIns="0" rIns="0" tIns="0" bIns="0">
            <a:spAutoFit/>
          </a:bodyPr>
          <a:lstStyle/>
          <a:p>
            <a:pPr algn="l">
              <a:spcBef>
                <a:spcPts val="0"/>
              </a:spcBef>
              <a:spcAft>
                <a:spcPts val="500"/>
              </a:spcAft>
            </a:pPr>
            <a:r>
              <a:rPr sz="1200" b="1" i="0">
                <a:solidFill>
                  <a:srgbClr val="3B82F6"/>
                </a:solidFill>
                <a:latin typeface="Calibri"/>
              </a:rPr>
              <a:t>REFERENCES</a:t>
            </a:r>
          </a:p>
        </p:txBody>
      </p:sp>
      <p:sp>
        <p:nvSpPr>
          <p:cNvPr id="10" name="TextBox 9"/>
          <p:cNvSpPr txBox="1"/>
          <p:nvPr/>
        </p:nvSpPr>
        <p:spPr>
          <a:xfrm>
            <a:off x="6263640" y="1874519"/>
            <a:ext cx="5440680" cy="4206240"/>
          </a:xfrm>
          <a:prstGeom prst="rect">
            <a:avLst/>
          </a:prstGeom>
          <a:noFill/>
        </p:spPr>
        <p:txBody>
          <a:bodyPr wrap="square" lIns="0" rIns="0" tIns="0" bIns="0">
            <a:spAutoFit/>
          </a:bodyPr>
          <a:lstStyle/>
          <a:p>
            <a:pPr algn="l">
              <a:spcBef>
                <a:spcPts val="0"/>
              </a:spcBef>
              <a:spcAft>
                <a:spcPts val="800"/>
              </a:spcAft>
            </a:pPr>
            <a:r>
              <a:rPr sz="1000" b="1">
                <a:solidFill>
                  <a:srgbClr val="10B981"/>
                </a:solidFill>
                <a:latin typeface="Calibri"/>
              </a:rPr>
              <a:t>[1]  </a:t>
            </a:r>
            <a:r>
              <a:rPr sz="1000">
                <a:solidFill>
                  <a:srgbClr val="F1F5F9"/>
                </a:solidFill>
                <a:latin typeface="Calibri"/>
              </a:rPr>
              <a:t>X. Dong and Y. Li, “Online Detection of Turning Tool Wear Based on Machine Vision,” ASME J. Computing &amp; Information Science in Engineering, vol. 22, no. 5, 050903, 2022. doi: 10.1115/1.4053919.</a:t>
            </a:r>
          </a:p>
          <a:p>
            <a:pPr algn="l">
              <a:spcBef>
                <a:spcPts val="0"/>
              </a:spcBef>
              <a:spcAft>
                <a:spcPts val="800"/>
              </a:spcAft>
            </a:pPr>
            <a:r>
              <a:rPr sz="1000" b="1">
                <a:solidFill>
                  <a:srgbClr val="10B981"/>
                </a:solidFill>
                <a:latin typeface="Calibri"/>
              </a:rPr>
              <a:t>[2]  </a:t>
            </a:r>
            <a:r>
              <a:rPr sz="1000">
                <a:solidFill>
                  <a:srgbClr val="F1F5F9"/>
                </a:solidFill>
                <a:latin typeface="Calibri"/>
              </a:rPr>
              <a:t>Z. Fan, “A CNC Machine Tool Wear Prediction Model Integrating Deep Reinforcement Learning and Edge Data Processing,” Proc. DAPIC, 2026. doi: 10.23919/DAPIC.2026.00023.</a:t>
            </a:r>
          </a:p>
          <a:p>
            <a:pPr algn="l">
              <a:spcBef>
                <a:spcPts val="0"/>
              </a:spcBef>
              <a:spcAft>
                <a:spcPts val="800"/>
              </a:spcAft>
            </a:pPr>
            <a:r>
              <a:rPr sz="1000" b="1">
                <a:solidFill>
                  <a:srgbClr val="10B981"/>
                </a:solidFill>
                <a:latin typeface="Calibri"/>
              </a:rPr>
              <a:t>[3]  </a:t>
            </a:r>
            <a:r>
              <a:rPr sz="1000">
                <a:solidFill>
                  <a:srgbClr val="F1F5F9"/>
                </a:solidFill>
                <a:latin typeface="Calibri"/>
              </a:rPr>
              <a:t>R. Munaro, A. Attanasio and A. Del Prete, “Tool Wear Monitoring with Artificial Intelligence Methods: A Review,” J. Manuf. Mater. Process., vol. 7, no. 4, 129, 2023. doi: 10.3390/jmmp7040129.</a:t>
            </a:r>
          </a:p>
          <a:p>
            <a:pPr algn="l">
              <a:spcBef>
                <a:spcPts val="0"/>
              </a:spcBef>
              <a:spcAft>
                <a:spcPts val="800"/>
              </a:spcAft>
            </a:pPr>
            <a:r>
              <a:rPr sz="1000" b="1">
                <a:solidFill>
                  <a:srgbClr val="10B981"/>
                </a:solidFill>
                <a:latin typeface="Calibri"/>
              </a:rPr>
              <a:t>[4]  </a:t>
            </a:r>
            <a:r>
              <a:rPr sz="1000">
                <a:solidFill>
                  <a:srgbClr val="F1F5F9"/>
                </a:solidFill>
                <a:latin typeface="Calibri"/>
              </a:rPr>
              <a:t>ISO 3685 — tool-life criterion VB = 0.3 mm, as cited in [3, §6.2].</a:t>
            </a:r>
          </a:p>
          <a:p>
            <a:pPr algn="l">
              <a:spcBef>
                <a:spcPts val="0"/>
              </a:spcBef>
              <a:spcAft>
                <a:spcPts val="800"/>
              </a:spcAft>
            </a:pPr>
            <a:r>
              <a:rPr sz="1000" b="1">
                <a:solidFill>
                  <a:srgbClr val="10B981"/>
                </a:solidFill>
                <a:latin typeface="Calibri"/>
              </a:rPr>
              <a:t>[5]  </a:t>
            </a:r>
            <a:r>
              <a:rPr sz="1000">
                <a:solidFill>
                  <a:srgbClr val="F1F5F9"/>
                </a:solidFill>
                <a:latin typeface="Calibri"/>
              </a:rPr>
              <a:t>PHM Society 2010 Tool Wear Challenge dataset — external benchmark designated for future work.</a:t>
            </a:r>
          </a:p>
        </p:txBody>
      </p:sp>
      <p:sp>
        <p:nvSpPr>
          <p:cNvPr id="11" name="Rounded Rectangle 10"/>
          <p:cNvSpPr/>
          <p:nvPr/>
        </p:nvSpPr>
        <p:spPr>
          <a:xfrm>
            <a:off x="6263640" y="5120640"/>
            <a:ext cx="5440680" cy="1051560"/>
          </a:xfrm>
          <a:prstGeom prst="roundRect">
            <a:avLst/>
          </a:prstGeom>
          <a:solidFill>
            <a:srgbClr val="16202F"/>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91440" bIns="73152"/>
          <a:lstStyle/>
          <a:p>
            <a:pPr algn="l">
              <a:spcBef>
                <a:spcPts val="0"/>
              </a:spcBef>
              <a:spcAft>
                <a:spcPts val="300"/>
              </a:spcAft>
            </a:pPr>
            <a:r>
              <a:rPr sz="1000" b="1" i="0">
                <a:solidFill>
                  <a:srgbClr val="F59E0B"/>
                </a:solidFill>
                <a:latin typeface="Calibri"/>
              </a:rPr>
              <a:t>REPRODUCIBILITY</a:t>
            </a:r>
          </a:p>
          <a:p>
            <a:pPr algn="l">
              <a:spcBef>
                <a:spcPts val="0"/>
              </a:spcBef>
              <a:spcAft>
                <a:spcPts val="0"/>
              </a:spcAft>
            </a:pPr>
            <a:r>
              <a:rPr sz="930" b="0" i="0">
                <a:solidFill>
                  <a:srgbClr val="F1F5F9"/>
                </a:solidFill>
                <a:latin typeface="Calibri"/>
              </a:rPr>
              <a:t>Source, audit report and measurement harness: github.com/ArvapalliSaiAdarsh39/cnc-tool-wear-system — docs/VALIDATION_REPORT.md and audit/ (every figure in this deck is re-runnable).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